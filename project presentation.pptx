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5"/>
  </p:notesMasterIdLst>
  <p:sldIdLst>
    <p:sldId id="283" r:id="rId3"/>
    <p:sldId id="257" r:id="rId4"/>
    <p:sldId id="282" r:id="rId6"/>
    <p:sldId id="285" r:id="rId7"/>
    <p:sldId id="278" r:id="rId8"/>
    <p:sldId id="281" r:id="rId9"/>
    <p:sldId id="279" r:id="rId10"/>
    <p:sldId id="262" r:id="rId11"/>
    <p:sldId id="264" r:id="rId12"/>
    <p:sldId id="277" r:id="rId13"/>
    <p:sldId id="286" r:id="rId14"/>
    <p:sldId id="287" r:id="rId15"/>
    <p:sldId id="280" r:id="rId16"/>
    <p:sldId id="288" r:id="rId17"/>
    <p:sldId id="289" r:id="rId18"/>
    <p:sldId id="276" r:id="rId19"/>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AAD8F4D-43EB-41E5-8A38-28AB6DFB1B60}" styleName="Table_0">
    <a:wholeTbl>
      <a:tcTxStyle>
        <a:font>
          <a:latin typeface="Arial"/>
          <a:ea typeface="Arial"/>
          <a:cs typeface="Arial"/>
        </a:font>
        <a:srgbClr val="000000"/>
      </a:tcTxStyle>
      <a:tcStyle>
        <a:tcBdr/>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 Type="http://schemas.openxmlformats.org/officeDocument/2006/relationships/slide" Target="slides/slide2.xml"/><Relationship Id="rId3" Type="http://schemas.openxmlformats.org/officeDocument/2006/relationships/slide" Target="slides/slide1.xml"/><Relationship Id="rId22" Type="http://schemas.openxmlformats.org/officeDocument/2006/relationships/tableStyles" Target="tableStyles.xml"/><Relationship Id="rId21" Type="http://schemas.openxmlformats.org/officeDocument/2006/relationships/viewProps" Target="viewProps.xml"/><Relationship Id="rId20" Type="http://schemas.openxmlformats.org/officeDocument/2006/relationships/presProps" Target="presProps.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02" name="Google Shape;10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02" name="Google Shape;10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97"/>
        <p:cNvGrpSpPr/>
        <p:nvPr/>
      </p:nvGrpSpPr>
      <p:grpSpPr>
        <a:xfrm>
          <a:off x="0" y="0"/>
          <a:ext cx="0" cy="0"/>
          <a:chOff x="0" y="0"/>
          <a:chExt cx="0" cy="0"/>
        </a:xfrm>
      </p:grpSpPr>
      <p:sp>
        <p:nvSpPr>
          <p:cNvPr id="198" name="Google Shape;198;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99" name="Google Shape;199;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28"/>
        <p:cNvGrpSpPr/>
        <p:nvPr/>
      </p:nvGrpSpPr>
      <p:grpSpPr>
        <a:xfrm>
          <a:off x="0" y="0"/>
          <a:ext cx="0" cy="0"/>
          <a:chOff x="0" y="0"/>
          <a:chExt cx="0" cy="0"/>
        </a:xfrm>
      </p:grpSpPr>
      <p:sp>
        <p:nvSpPr>
          <p:cNvPr id="129" name="Google Shape;129;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30" name="Google Shape;130;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71"/>
        <p:cNvGrpSpPr/>
        <p:nvPr/>
      </p:nvGrpSpPr>
      <p:grpSpPr>
        <a:xfrm>
          <a:off x="0" y="0"/>
          <a:ext cx="0" cy="0"/>
          <a:chOff x="0" y="0"/>
          <a:chExt cx="0" cy="0"/>
        </a:xfrm>
      </p:grpSpPr>
      <p:sp>
        <p:nvSpPr>
          <p:cNvPr id="272" name="Google Shape;272;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73" name="Google Shape;273;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97"/>
        <p:cNvGrpSpPr/>
        <p:nvPr/>
      </p:nvGrpSpPr>
      <p:grpSpPr>
        <a:xfrm>
          <a:off x="0" y="0"/>
          <a:ext cx="0" cy="0"/>
          <a:chOff x="0" y="0"/>
          <a:chExt cx="0" cy="0"/>
        </a:xfrm>
      </p:grpSpPr>
      <p:sp>
        <p:nvSpPr>
          <p:cNvPr id="198" name="Google Shape;198;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99" name="Google Shape;199;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71"/>
        <p:cNvGrpSpPr/>
        <p:nvPr/>
      </p:nvGrpSpPr>
      <p:grpSpPr>
        <a:xfrm>
          <a:off x="0" y="0"/>
          <a:ext cx="0" cy="0"/>
          <a:chOff x="0" y="0"/>
          <a:chExt cx="0" cy="0"/>
        </a:xfrm>
      </p:grpSpPr>
      <p:sp>
        <p:nvSpPr>
          <p:cNvPr id="272" name="Google Shape;272;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73" name="Google Shape;273;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71"/>
        <p:cNvGrpSpPr/>
        <p:nvPr/>
      </p:nvGrpSpPr>
      <p:grpSpPr>
        <a:xfrm>
          <a:off x="0" y="0"/>
          <a:ext cx="0" cy="0"/>
          <a:chOff x="0" y="0"/>
          <a:chExt cx="0" cy="0"/>
        </a:xfrm>
      </p:grpSpPr>
      <p:sp>
        <p:nvSpPr>
          <p:cNvPr id="272" name="Google Shape;272;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73" name="Google Shape;273;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panose="020F0502020204030204"/>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image" Target="../media/image6.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png"/><Relationship Id="rId1" Type="http://schemas.openxmlformats.org/officeDocument/2006/relationships/image" Target="../media/image7.jpe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xml"/><Relationship Id="rId1"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p:cNvSpPr>
            <a:spLocks noGrp="1"/>
          </p:cNvSpPr>
          <p:nvPr>
            <p:ph type="body" idx="1"/>
          </p:nvPr>
        </p:nvSpPr>
        <p:spPr>
          <a:xfrm>
            <a:off x="1014730" y="3903663"/>
            <a:ext cx="10515600" cy="1500187"/>
          </a:xfrm>
        </p:spPr>
        <p:txBody>
          <a:bodyPr/>
          <a:lstStyle/>
          <a:p>
            <a:pPr algn="ctr"/>
            <a:r>
              <a:rPr lang="en-US" b="1" i="1"/>
              <a:t>“Exploring the Power of Agentic AI with IBM Granite and </a:t>
            </a:r>
            <a:r>
              <a:rPr lang="en-US" b="1" i="1" err="1"/>
              <a:t>LangFlow</a:t>
            </a:r>
            <a:r>
              <a:rPr lang="en-US" b="1" i="1"/>
              <a:t>”</a:t>
            </a:r>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panose="020F0502020204030204"/>
              <a:buNone/>
            </a:pPr>
            <a:endParaRPr sz="15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panose="02020603050405020304"/>
              <a:buNone/>
            </a:pPr>
            <a:endParaRPr sz="3200" b="1" i="0" u="none" strike="noStrike" cap="none">
              <a:solidFill>
                <a:srgbClr val="002060"/>
              </a:solidFill>
              <a:latin typeface="Times New Roman" panose="02020603050405020304"/>
              <a:ea typeface="Times New Roman" panose="02020603050405020304"/>
              <a:cs typeface="Times New Roman" panose="02020603050405020304"/>
              <a:sym typeface="Times New Roman" panose="02020603050405020304"/>
            </a:endParaRPr>
          </a:p>
        </p:txBody>
      </p:sp>
      <p:graphicFrame>
        <p:nvGraphicFramePr>
          <p:cNvPr id="96" name="Google Shape;96;p2"/>
          <p:cNvGraphicFramePr/>
          <p:nvPr/>
        </p:nvGraphicFramePr>
        <p:xfrm>
          <a:off x="1299257" y="2600315"/>
          <a:ext cx="9394989" cy="2167128"/>
        </p:xfrm>
        <a:graphic>
          <a:graphicData uri="http://schemas.openxmlformats.org/drawingml/2006/table">
            <a:tbl>
              <a:tblPr>
                <a:noFill/>
                <a:tableStyleId>{0AAD8F4D-43EB-41E5-8A38-28AB6DFB1B60}</a:tableStyleId>
              </a:tblPr>
              <a:tblGrid>
                <a:gridCol w="2064867"/>
                <a:gridCol w="2443374"/>
                <a:gridCol w="2443374"/>
                <a:gridCol w="2443374"/>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b="0" i="0" u="none" strike="noStrike" cap="none">
                          <a:solidFill>
                            <a:srgbClr val="000000"/>
                          </a:solidFill>
                          <a:latin typeface="Arial" panose="020B0604020202020204"/>
                          <a:ea typeface="Calibri" panose="020F0502020204030204"/>
                          <a:cs typeface="Arial" panose="020B0604020202020204"/>
                          <a:sym typeface="Calibri" panose="020F0502020204030204"/>
                        </a:rPr>
                        <a:t>Email ID </a:t>
                      </a:r>
                      <a:endParaRPr sz="1800" b="0" i="0" u="none" strike="noStrike" cap="none">
                        <a:solidFill>
                          <a:srgbClr val="000000"/>
                        </a:solidFill>
                        <a:latin typeface="Arial" panose="020B0604020202020204"/>
                        <a:cs typeface="Arial" panose="020B0604020202020204"/>
                        <a:sym typeface="Arial" panose="020B0604020202020204"/>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panose="020F0502020204030204"/>
                        <a:buNone/>
                      </a:pPr>
                      <a:r>
                        <a:rPr lang="en-US" sz="1800" b="0" i="0" u="none" strike="noStrike" cap="none">
                          <a:solidFill>
                            <a:srgbClr val="000000"/>
                          </a:solidFill>
                          <a:latin typeface="Arial" panose="020B0604020202020204"/>
                          <a:ea typeface="Calibri" panose="020F0502020204030204"/>
                          <a:cs typeface="Arial" panose="020B0604020202020204"/>
                          <a:sym typeface="Calibri" panose="020F0502020204030204"/>
                        </a:rPr>
                        <a:t>Mobile number</a:t>
                      </a:r>
                      <a:endParaRPr sz="1800" b="0" i="0" u="none" strike="noStrike" cap="none">
                        <a:solidFill>
                          <a:srgbClr val="000000"/>
                        </a:solidFill>
                        <a:latin typeface="Arial" panose="020B0604020202020204"/>
                        <a:cs typeface="Arial" panose="020B0604020202020204"/>
                        <a:sym typeface="Arial" panose="020B0604020202020204"/>
                      </a:endParaRPr>
                    </a:p>
                    <a:p>
                      <a:pPr marL="0" marR="0" lvl="0" indent="0" algn="ctr" rtl="0">
                        <a:lnSpc>
                          <a:spcPct val="100000"/>
                        </a:lnSpc>
                        <a:spcBef>
                          <a:spcPts val="0"/>
                        </a:spcBef>
                        <a:spcAft>
                          <a:spcPts val="0"/>
                        </a:spcAft>
                        <a:buClr>
                          <a:schemeClr val="lt1"/>
                        </a:buClr>
                        <a:buSzPts val="1800"/>
                        <a:buFont typeface="Calibri" panose="020F0502020204030204"/>
                        <a:buNone/>
                      </a:pPr>
                      <a:r>
                        <a:rPr lang="en-US" sz="1800" b="0" i="0" u="none" strike="noStrike" cap="none">
                          <a:solidFill>
                            <a:srgbClr val="000000"/>
                          </a:solidFill>
                          <a:latin typeface="Arial" panose="020B0604020202020204"/>
                          <a:ea typeface="Calibri" panose="020F0502020204030204"/>
                          <a:cs typeface="Arial" panose="020B0604020202020204"/>
                          <a:sym typeface="Calibri" panose="020F0502020204030204"/>
                        </a:rPr>
                        <a:t>[WhatsApp] </a:t>
                      </a:r>
                      <a:endParaRPr sz="1800" b="0" i="0" u="none" strike="noStrike" cap="none">
                        <a:solidFill>
                          <a:srgbClr val="000000"/>
                        </a:solidFill>
                        <a:latin typeface="Arial" panose="020B0604020202020204"/>
                        <a:cs typeface="Arial" panose="020B0604020202020204"/>
                        <a:sym typeface="Arial" panose="020B0604020202020204"/>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r>
              <a:tr h="1193891">
                <a:tc>
                  <a:txBody>
                    <a:bodyPr/>
                    <a:lstStyle/>
                    <a:p>
                      <a:pPr marL="0" marR="0" lvl="0" indent="0" algn="l" rtl="0">
                        <a:spcBef>
                          <a:spcPts val="0"/>
                        </a:spcBef>
                        <a:spcAft>
                          <a:spcPts val="0"/>
                        </a:spcAft>
                        <a:buNone/>
                      </a:pPr>
                      <a:r>
                        <a:rPr lang="en-US"/>
                        <a:t>Tarasariya Rinkal       Ratilal</a:t>
                      </a:r>
                      <a:endParaRPr lang="en-US"/>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sz="1800"/>
                        <a:t>   </a:t>
                      </a:r>
                      <a:endParaRPr lang="en-US"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a:t>  rinkaltarasariya1002@gmail.com</a:t>
                      </a:r>
                      <a:endParaRPr lang="en-US"/>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a:t>6351103051</a:t>
                      </a:r>
                      <a:endParaRPr lang="en-US"/>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r>
            </a:tbl>
          </a:graphicData>
        </a:graphic>
      </p:graphicFrame>
      <p:sp>
        <p:nvSpPr>
          <p:cNvPr id="4" name="TextBox 3"/>
          <p:cNvSpPr txBox="1"/>
          <p:nvPr/>
        </p:nvSpPr>
        <p:spPr>
          <a:xfrm>
            <a:off x="1206164" y="1460724"/>
            <a:ext cx="10280254" cy="460375"/>
          </a:xfrm>
          <a:prstGeom prst="rect">
            <a:avLst/>
          </a:prstGeom>
          <a:noFill/>
        </p:spPr>
        <p:txBody>
          <a:bodyPr wrap="square" rtlCol="0">
            <a:spAutoFit/>
          </a:bodyPr>
          <a:lstStyle/>
          <a:p>
            <a:r>
              <a:rPr lang="en-US" sz="2400" b="1"/>
              <a:t>Domain of  Project –  </a:t>
            </a:r>
            <a:r>
              <a:rPr lang="en-US" altLang="en-US" sz="2400" b="1"/>
              <a:t>Environmental Sustainability </a:t>
            </a:r>
            <a:r>
              <a:rPr lang="en-US" sz="2400" b="1"/>
              <a:t> </a:t>
            </a:r>
            <a:endParaRPr lang="en-IN" sz="2400" b="1">
              <a:highlight>
                <a:srgbClr val="FFFF00"/>
              </a:highlight>
            </a:endParaRPr>
          </a:p>
        </p:txBody>
      </p:sp>
      <p:sp>
        <p:nvSpPr>
          <p:cNvPr id="7" name="TextBox 6"/>
          <p:cNvSpPr txBox="1"/>
          <p:nvPr/>
        </p:nvSpPr>
        <p:spPr>
          <a:xfrm>
            <a:off x="1206162" y="551965"/>
            <a:ext cx="9581177" cy="829945"/>
          </a:xfrm>
          <a:prstGeom prst="rect">
            <a:avLst/>
          </a:prstGeom>
          <a:noFill/>
        </p:spPr>
        <p:txBody>
          <a:bodyPr wrap="square" rtlCol="0">
            <a:spAutoFit/>
          </a:bodyPr>
          <a:lstStyle/>
          <a:p>
            <a:r>
              <a:rPr lang="en-US" sz="2400" b="1"/>
              <a:t>Project Tile –  </a:t>
            </a:r>
            <a:r>
              <a:rPr lang="en-US" altLang="en-US" sz="2400" b="1"/>
              <a:t>Smart Industrial Pollution Monitoring for Golden Corridor (Vapi–Ankleswar) </a:t>
            </a:r>
            <a:r>
              <a:rPr lang="en-US" sz="2400" b="1"/>
              <a:t> </a:t>
            </a:r>
            <a:endParaRPr lang="en-IN" sz="2400" b="1">
              <a:highlight>
                <a:srgbClr val="FFFF00"/>
              </a:highlight>
            </a:endParaRPr>
          </a:p>
        </p:txBody>
      </p:sp>
      <p:sp>
        <p:nvSpPr>
          <p:cNvPr id="3" name="TextBox 2"/>
          <p:cNvSpPr txBox="1"/>
          <p:nvPr/>
        </p:nvSpPr>
        <p:spPr>
          <a:xfrm>
            <a:off x="1211005" y="5210667"/>
            <a:ext cx="6456743" cy="1631216"/>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2000">
                <a:solidFill>
                  <a:srgbClr val="FF0000"/>
                </a:solidFill>
              </a:rPr>
              <a:t>Recommended font style and size:</a:t>
            </a:r>
            <a:br>
              <a:rPr lang="en-US" sz="2000">
                <a:solidFill>
                  <a:srgbClr val="FF0000"/>
                </a:solidFill>
              </a:rPr>
            </a:br>
            <a:br>
              <a:rPr lang="en-US" sz="2000"/>
            </a:br>
            <a:r>
              <a:rPr lang="en-US" sz="2000">
                <a:solidFill>
                  <a:srgbClr val="FF0000"/>
                </a:solidFill>
              </a:rPr>
              <a:t>Font Style: Arial</a:t>
            </a:r>
            <a:br>
              <a:rPr lang="en-US" sz="2000">
                <a:solidFill>
                  <a:srgbClr val="FF0000"/>
                </a:solidFill>
              </a:rPr>
            </a:br>
            <a:r>
              <a:rPr lang="en-US" sz="2000">
                <a:solidFill>
                  <a:srgbClr val="FF0000"/>
                </a:solidFill>
              </a:rPr>
              <a:t>Font Size (Heading): 28</a:t>
            </a:r>
            <a:endParaRPr lang="en-US" sz="2000">
              <a:solidFill>
                <a:srgbClr val="FF0000"/>
              </a:solidFill>
            </a:endParaRPr>
          </a:p>
          <a:p>
            <a:r>
              <a:rPr lang="en-US" sz="2000">
                <a:solidFill>
                  <a:srgbClr val="FF0000"/>
                </a:solidFill>
              </a:rPr>
              <a:t>Font Size (Content): 20</a:t>
            </a:r>
            <a:endParaRPr lang="en-US" sz="2000">
              <a:solidFill>
                <a:srgbClr val="FF0000"/>
              </a:solidFill>
            </a:endParaRPr>
          </a:p>
        </p:txBody>
      </p:sp>
      <p:pic>
        <p:nvPicPr>
          <p:cNvPr id="5" name="Picture 4"/>
          <p:cNvPicPr>
            <a:picLocks noChangeAspect="1"/>
          </p:cNvPicPr>
          <p:nvPr/>
        </p:nvPicPr>
        <p:blipFill>
          <a:blip r:embed="rId1"/>
          <a:stretch>
            <a:fillRect/>
          </a:stretch>
        </p:blipFill>
        <p:spPr>
          <a:xfrm>
            <a:off x="4540885" y="3581400"/>
            <a:ext cx="944880" cy="115697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2" name="TextBox 1"/>
          <p:cNvSpPr txBox="1"/>
          <p:nvPr/>
        </p:nvSpPr>
        <p:spPr>
          <a:xfrm>
            <a:off x="576072" y="1234440"/>
            <a:ext cx="10607040" cy="4184650"/>
          </a:xfrm>
          <a:prstGeom prst="rect">
            <a:avLst/>
          </a:prstGeom>
          <a:noFill/>
        </p:spPr>
        <p:txBody>
          <a:bodyPr wrap="square" rtlCol="0">
            <a:spAutoFit/>
          </a:bodyPr>
          <a:lstStyle/>
          <a:p>
            <a:pPr fontAlgn="base"/>
            <a:r>
              <a:rPr lang="en-US" b="1"/>
              <a:t>Problem Statement : </a:t>
            </a:r>
            <a:r>
              <a:rPr lang="en-US" altLang="en-US" b="1"/>
              <a:t>The Vapi–Ankleshwar–Vatva industrial corridor hosts a high concentration of chemical and manufacturing industries, creating significant environmental monitoring challenges.</a:t>
            </a:r>
            <a:r>
              <a:rPr lang="en-US"/>
              <a:t> </a:t>
            </a:r>
            <a:endParaRPr lang="en-US"/>
          </a:p>
          <a:p>
            <a:pPr fontAlgn="base"/>
            <a:endParaRPr lang="en-US" b="1"/>
          </a:p>
          <a:p>
            <a:pPr fontAlgn="base"/>
            <a:r>
              <a:rPr lang="en-US" b="1"/>
              <a:t>The Challenge</a:t>
            </a:r>
            <a:r>
              <a:rPr lang="en-US"/>
              <a:t> </a:t>
            </a:r>
            <a:endParaRPr lang="en-US"/>
          </a:p>
          <a:p>
            <a:pPr fontAlgn="base"/>
            <a:r>
              <a:rPr lang="en-US" altLang="en-US"/>
              <a:t>The industrial belt along Vapi, Ankleshwar, and Vatva faces significant air and water pollution from chemical and manufacturing units, with limited real-time monitoring and slow regulatory response to violations. </a:t>
            </a:r>
            <a:endParaRPr lang="en-US" altLang="en-US"/>
          </a:p>
          <a:p>
            <a:pPr fontAlgn="base"/>
            <a:r>
              <a:rPr lang="en-US" b="1"/>
              <a:t>The Objective</a:t>
            </a:r>
            <a:r>
              <a:rPr lang="en-US"/>
              <a:t>  </a:t>
            </a:r>
            <a:endParaRPr lang="en-US"/>
          </a:p>
          <a:p>
            <a:r>
              <a:rPr lang="en-US" altLang="en-US"/>
              <a:t>1.Continuous Pollution Monitoring</a:t>
            </a:r>
            <a:endParaRPr lang="en-US" altLang="en-US"/>
          </a:p>
          <a:p>
            <a:r>
              <a:rPr lang="en-US" altLang="en-US"/>
              <a:t>Monitor industrial air emissions and water effluents in real time using sensors and AI-based monitoring systems.</a:t>
            </a:r>
            <a:endParaRPr lang="en-US" altLang="en-US"/>
          </a:p>
          <a:p>
            <a:r>
              <a:rPr lang="en-US" altLang="en-US"/>
              <a:t>2.AI-Based Violation Detection</a:t>
            </a:r>
            <a:endParaRPr lang="en-US" altLang="en-US"/>
          </a:p>
          <a:p>
            <a:r>
              <a:rPr lang="en-US" altLang="en-US"/>
              <a:t>Use Agentic AI to automatically identify pollution levels exceeding permitted limits and detect abnormal industrial activities.</a:t>
            </a:r>
            <a:endParaRPr lang="en-US" altLang="en-US"/>
          </a:p>
          <a:p>
            <a:r>
              <a:rPr lang="en-US" altLang="en-US"/>
              <a:t>3.Intelligent Data Analysis</a:t>
            </a:r>
            <a:endParaRPr lang="en-US" altLang="en-US"/>
          </a:p>
          <a:p>
            <a:r>
              <a:rPr lang="en-US" altLang="en-US"/>
              <a:t>Analyze sensor data, historical records, and environmental parameters to identify pollution patterns and predict potential violations.</a:t>
            </a:r>
            <a:endParaRPr lang="en-US" altLang="en-US"/>
          </a:p>
          <a:p>
            <a:r>
              <a:rPr lang="en-US" altLang="en-US"/>
              <a:t>4.Automated Regulatory Alerts</a:t>
            </a:r>
            <a:endParaRPr lang="en-US" altLang="en-US"/>
          </a:p>
          <a:p>
            <a:r>
              <a:rPr lang="en-US" altLang="en-US"/>
              <a:t>When a violation is detected, automatically generate and send timely alerts to regulatory authorities for quick action.</a:t>
            </a:r>
            <a:endParaRPr lang="en-US" altLang="en-US"/>
          </a:p>
          <a:p>
            <a:r>
              <a:rPr lang="en-US" altLang="en-US"/>
              <a:t>5.Community Safety Alerts</a:t>
            </a:r>
            <a:endParaRPr lang="en-US" altLang="en-US"/>
          </a:p>
          <a:p>
            <a:r>
              <a:rPr lang="en-US" altLang="en-US"/>
              <a:t>Provide early warnings to nearby communities when pollution reaches potentially dangerous levels.</a:t>
            </a:r>
            <a:endParaRPr lang="en-US" altLang="en-US"/>
          </a:p>
          <a:p>
            <a:r>
              <a:rPr lang="en-US" altLang="en-US"/>
              <a:t>6.Automated Reporting &amp; Recommendations</a:t>
            </a:r>
            <a:endParaRPr lang="en-US" altLang="en-US"/>
          </a:p>
          <a:p>
            <a:r>
              <a:rPr lang="en-US" altLang="en-US"/>
              <a:t>Generate pollution reports, maintain violation records, and provide AI-driven recommendations for corrective and regulatory action.</a:t>
            </a:r>
            <a:endParaRPr lang="en-US" altLang="en-US"/>
          </a:p>
        </p:txBody>
      </p:sp>
      <p:sp>
        <p:nvSpPr>
          <p:cNvPr id="3" name="TextBox 2"/>
          <p:cNvSpPr txBox="1"/>
          <p:nvPr/>
        </p:nvSpPr>
        <p:spPr>
          <a:xfrm>
            <a:off x="576072" y="704088"/>
            <a:ext cx="7214616" cy="461665"/>
          </a:xfrm>
          <a:prstGeom prst="rect">
            <a:avLst/>
          </a:prstGeom>
          <a:noFill/>
        </p:spPr>
        <p:txBody>
          <a:bodyPr wrap="square" rtlCol="0">
            <a:spAutoFit/>
          </a:bodyPr>
          <a:lstStyle/>
          <a:p>
            <a:r>
              <a:rPr lang="en-US" sz="2400" b="1"/>
              <a:t>Problem Statement -</a:t>
            </a:r>
            <a:endParaRPr lang="en-IN" sz="2400" b="1"/>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2" name="TextBox 1"/>
          <p:cNvSpPr txBox="1"/>
          <p:nvPr/>
        </p:nvSpPr>
        <p:spPr>
          <a:xfrm>
            <a:off x="575945" y="968375"/>
            <a:ext cx="10963275" cy="5755640"/>
          </a:xfrm>
          <a:prstGeom prst="rect">
            <a:avLst/>
          </a:prstGeom>
          <a:noFill/>
        </p:spPr>
        <p:txBody>
          <a:bodyPr wrap="square" rtlCol="0">
            <a:noAutofit/>
          </a:bodyPr>
          <a:lstStyle/>
          <a:p>
            <a:pPr fontAlgn="base"/>
            <a:endParaRPr lang="en-US" b="1"/>
          </a:p>
          <a:p>
            <a:r>
              <a:rPr lang="en-US" b="1"/>
              <a:t>Proposed Solution: Ecosential-AI</a:t>
            </a:r>
            <a:endParaRPr lang="en-US" b="1"/>
          </a:p>
          <a:p>
            <a:endParaRPr lang="en-IN"/>
          </a:p>
          <a:p>
            <a:r>
              <a:rPr lang="en-US" altLang="en-US"/>
              <a:t>“You are EcoSentinel AI, an intelligent Agentic AI system for monitoring industrial pollution in the Vapi–Ankleshwar Golden Corridor. Continuously analyze real-time air-emission and water-effluent sensor data. Monitor pollution parameters against permitted environmental limits, detect abnormal patterns and potential violations, investigate possible causes, assess the severity and environmental risk, prioritize incidents, and automatically trigger appropriate alerts and escalation. Notify industries and regulatory authorities about serious violations, provide community warnings when necessary, maintain a record of incidents, and recommend suitable corrective actions. Continuously learn from monitoring data and previous incidents to improve pollution detection, risk assessment, and response.”</a:t>
            </a:r>
            <a:endParaRPr lang="en-US" altLang="en-US"/>
          </a:p>
          <a:p>
            <a:endParaRPr lang="en-US" altLang="en-US"/>
          </a:p>
          <a:p>
            <a:endParaRPr lang="en-US" altLang="en-US"/>
          </a:p>
        </p:txBody>
      </p:sp>
      <p:sp>
        <p:nvSpPr>
          <p:cNvPr id="3" name="TextBox 2"/>
          <p:cNvSpPr txBox="1"/>
          <p:nvPr/>
        </p:nvSpPr>
        <p:spPr>
          <a:xfrm>
            <a:off x="576072" y="704088"/>
            <a:ext cx="7214616" cy="461665"/>
          </a:xfrm>
          <a:prstGeom prst="rect">
            <a:avLst/>
          </a:prstGeom>
          <a:noFill/>
        </p:spPr>
        <p:txBody>
          <a:bodyPr wrap="square" rtlCol="0">
            <a:spAutoFit/>
          </a:bodyPr>
          <a:lstStyle/>
          <a:p>
            <a:r>
              <a:rPr lang="en-US" sz="2400" b="1"/>
              <a:t>Proposed Solution -</a:t>
            </a:r>
            <a:endParaRPr lang="en-IN" sz="2400" b="1"/>
          </a:p>
        </p:txBody>
      </p:sp>
      <p:pic>
        <p:nvPicPr>
          <p:cNvPr id="4" name="Picture 3"/>
          <p:cNvPicPr>
            <a:picLocks noChangeAspect="1"/>
          </p:cNvPicPr>
          <p:nvPr/>
        </p:nvPicPr>
        <p:blipFill>
          <a:blip r:embed="rId1"/>
          <a:stretch>
            <a:fillRect/>
          </a:stretch>
        </p:blipFill>
        <p:spPr>
          <a:xfrm>
            <a:off x="3154680" y="3089275"/>
            <a:ext cx="6664325" cy="331152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 name="TextBox 1"/>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p:cNvSpPr txBox="1"/>
          <p:nvPr/>
        </p:nvSpPr>
        <p:spPr>
          <a:xfrm>
            <a:off x="228600" y="1219200"/>
            <a:ext cx="10515600" cy="3953510"/>
          </a:xfrm>
          <a:prstGeom prst="rect">
            <a:avLst/>
          </a:prstGeom>
          <a:noFill/>
        </p:spPr>
        <p:txBody>
          <a:bodyPr wrap="square" lIns="91440" tIns="45720" rIns="91440" bIns="45720" rtlCol="0" anchor="t">
            <a:noAutofit/>
          </a:bodyPr>
          <a:lstStyle/>
          <a:p>
            <a:r>
              <a:rPr lang="en-US" altLang="en-US" sz="1800">
                <a:solidFill>
                  <a:srgbClr val="000000"/>
                </a:solidFill>
                <a:uFillTx/>
                <a:latin typeface="Arial" panose="020B0604020202020204" pitchFamily="34" charset="0"/>
              </a:rPr>
              <a:t>Langflow Platform   – For visually designing and orchestrating the multi-agent pollution monitoring workflow.</a:t>
            </a:r>
            <a:endParaRPr lang="en-US" altLang="en-US" sz="1800">
              <a:solidFill>
                <a:srgbClr val="000000"/>
              </a:solidFill>
              <a:uFillTx/>
              <a:latin typeface="Arial" panose="020B0604020202020204" pitchFamily="34" charset="0"/>
            </a:endParaRPr>
          </a:p>
          <a:p>
            <a:r>
              <a:rPr lang="en-US" altLang="en-US" sz="1800">
                <a:solidFill>
                  <a:srgbClr val="000000"/>
                </a:solidFill>
                <a:uFillTx/>
                <a:latin typeface="Arial" panose="020B0604020202020204" pitchFamily="34" charset="0"/>
              </a:rPr>
              <a:t>IBM Granite Model – For natural language understanding, reasoning, violation analysis, risk assessment, and generating alerts/recommendations.</a:t>
            </a:r>
            <a:endParaRPr lang="en-US" altLang="en-US" sz="1800">
              <a:solidFill>
                <a:srgbClr val="000000"/>
              </a:solidFill>
              <a:uFillTx/>
              <a:latin typeface="Arial" panose="020B0604020202020204" pitchFamily="34" charset="0"/>
            </a:endParaRPr>
          </a:p>
          <a:p>
            <a:r>
              <a:rPr lang="en-US" altLang="en-US" sz="1800">
                <a:solidFill>
                  <a:srgbClr val="000000"/>
                </a:solidFill>
                <a:uFillTx/>
                <a:latin typeface="Arial" panose="020B0604020202020204" pitchFamily="34" charset="0"/>
              </a:rPr>
              <a:t>IBM Cloud – For providing a secure and scalable environment to deploy the EcoSentinel AI solution and its agents.</a:t>
            </a:r>
            <a:endParaRPr lang="en-US" altLang="en-US" sz="1800">
              <a:solidFill>
                <a:srgbClr val="000000"/>
              </a:solidFill>
              <a:uFillTx/>
              <a:latin typeface="Arial" panose="020B0604020202020204" pitchFamily="34" charset="0"/>
            </a:endParaRPr>
          </a:p>
          <a:p>
            <a:r>
              <a:rPr lang="en-US" altLang="en-US" sz="1800">
                <a:solidFill>
                  <a:srgbClr val="000000"/>
                </a:solidFill>
                <a:uFillTx/>
                <a:latin typeface="Arial" panose="020B0604020202020204" pitchFamily="34" charset="0"/>
              </a:rPr>
              <a:t>RAG (Retrieval-Augmented Generation) – To retrieve environmental regulations, permitted pollution limits, industrial guidelines, and historical pollution information before generating decisions or recommendations.</a:t>
            </a:r>
            <a:endParaRPr lang="en-US" altLang="en-US" sz="1800">
              <a:solidFill>
                <a:srgbClr val="000000"/>
              </a:solidFill>
              <a:uFillTx/>
              <a:latin typeface="Arial" panose="020B0604020202020204" pitchFamily="34" charset="0"/>
            </a:endParaRPr>
          </a:p>
          <a:p>
            <a:r>
              <a:rPr lang="en-US" altLang="en-US" sz="1800">
                <a:solidFill>
                  <a:srgbClr val="000000"/>
                </a:solidFill>
                <a:uFillTx/>
                <a:latin typeface="Arial" panose="020B0604020202020204" pitchFamily="34" charset="0"/>
              </a:rPr>
              <a:t>IBM watsonx.ai – For AI model deployment, evaluation, governance, and management.</a:t>
            </a:r>
            <a:endParaRPr lang="en-US" altLang="en-US" sz="1800">
              <a:solidFill>
                <a:srgbClr val="000000"/>
              </a:solidFill>
              <a:uFillTx/>
              <a:latin typeface="Arial" panose="020B0604020202020204" pitchFamily="34" charset="0"/>
            </a:endParaRPr>
          </a:p>
          <a:p>
            <a:r>
              <a:rPr lang="en-US" altLang="en-US" sz="1800">
                <a:solidFill>
                  <a:srgbClr val="000000"/>
                </a:solidFill>
                <a:uFillTx/>
                <a:latin typeface="Arial" panose="020B0604020202020204" pitchFamily="34" charset="0"/>
              </a:rPr>
              <a:t>Vector Database (FAISS/Chroma) – For storing and retrieving environmental regulations, pollution guidelines, historical incidents, and other relevant documents used by RAG.</a:t>
            </a:r>
            <a:endParaRPr lang="en-US" altLang="en-US" sz="1800">
              <a:solidFill>
                <a:srgbClr val="000000"/>
              </a:solidFill>
              <a:uFillTx/>
              <a:latin typeface="Arial" panose="020B06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5" name="Google Shape;135;p5"/>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panose="02020603050405020304"/>
              <a:buNone/>
            </a:pPr>
            <a:r>
              <a:rPr lang="en-US" sz="2400" b="1" err="1">
                <a:sym typeface="Times New Roman" panose="02020603050405020304"/>
              </a:rPr>
              <a:t>Langflow</a:t>
            </a:r>
            <a:r>
              <a:rPr lang="en-US" sz="3500" b="1" i="0" u="none" strike="noStrike" cap="none">
                <a:solidFill>
                  <a:srgbClr val="051D3A"/>
                </a:solidFill>
                <a:latin typeface="Times New Roman" panose="02020603050405020304"/>
                <a:ea typeface="Times New Roman" panose="02020603050405020304"/>
                <a:cs typeface="Times New Roman" panose="02020603050405020304"/>
                <a:sym typeface="Times New Roman" panose="02020603050405020304"/>
              </a:rPr>
              <a:t> </a:t>
            </a:r>
            <a:r>
              <a:rPr lang="en-US" sz="2400" b="1">
                <a:sym typeface="Times New Roman" panose="02020603050405020304"/>
              </a:rPr>
              <a:t>component Used -</a:t>
            </a:r>
            <a:endParaRPr sz="2400" b="1">
              <a:sym typeface="Times New Roman" panose="02020603050405020304"/>
            </a:endParaRPr>
          </a:p>
        </p:txBody>
      </p:sp>
      <p:sp>
        <p:nvSpPr>
          <p:cNvPr id="148" name="Google Shape;148;p5"/>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000"/>
              </a:lnSpc>
              <a:spcBef>
                <a:spcPts val="0"/>
              </a:spcBef>
              <a:spcAft>
                <a:spcPts val="0"/>
              </a:spcAft>
              <a:buClr>
                <a:schemeClr val="dk1"/>
              </a:buClr>
              <a:buSzPts val="1600"/>
              <a:buFont typeface="Calibri" panose="020F0502020204030204"/>
              <a:buNone/>
            </a:pPr>
            <a:endParaRPr sz="1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49" name="Google Shape;149;p5"/>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9000"/>
              </a:lnSpc>
              <a:spcBef>
                <a:spcPts val="0"/>
              </a:spcBef>
              <a:spcAft>
                <a:spcPts val="0"/>
              </a:spcAft>
              <a:buClr>
                <a:schemeClr val="dk1"/>
              </a:buClr>
              <a:buSzPts val="1600"/>
              <a:buFont typeface="Calibri" panose="020F0502020204030204"/>
              <a:buNone/>
            </a:pPr>
            <a:endParaRPr sz="1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0" name="Google Shape;150;p5"/>
          <p:cNvSpPr/>
          <p:nvPr/>
        </p:nvSpPr>
        <p:spPr>
          <a:xfrm>
            <a:off x="58085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000"/>
              </a:lnSpc>
              <a:spcBef>
                <a:spcPts val="0"/>
              </a:spcBef>
              <a:spcAft>
                <a:spcPts val="0"/>
              </a:spcAft>
              <a:buClr>
                <a:schemeClr val="dk1"/>
              </a:buClr>
              <a:buSzPts val="1600"/>
              <a:buFont typeface="Calibri" panose="020F0502020204030204"/>
              <a:buNone/>
            </a:pPr>
            <a:endParaRPr sz="1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1" name="Google Shape;151;p5"/>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9000"/>
              </a:lnSpc>
              <a:spcBef>
                <a:spcPts val="0"/>
              </a:spcBef>
              <a:spcAft>
                <a:spcPts val="0"/>
              </a:spcAft>
              <a:buClr>
                <a:schemeClr val="dk1"/>
              </a:buClr>
              <a:buSzPts val="1600"/>
              <a:buFont typeface="Calibri" panose="020F0502020204030204"/>
              <a:buNone/>
            </a:pPr>
            <a:endParaRPr sz="1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2" name="Google Shape;152;p5"/>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000"/>
              </a:lnSpc>
              <a:spcBef>
                <a:spcPts val="0"/>
              </a:spcBef>
              <a:spcAft>
                <a:spcPts val="0"/>
              </a:spcAft>
              <a:buClr>
                <a:schemeClr val="dk1"/>
              </a:buClr>
              <a:buSzPts val="1600"/>
              <a:buFont typeface="Calibri" panose="020F0502020204030204"/>
              <a:buNone/>
            </a:pPr>
            <a:endParaRPr sz="1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3" name="Google Shape;153;p5"/>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9000"/>
              </a:lnSpc>
              <a:spcBef>
                <a:spcPts val="0"/>
              </a:spcBef>
              <a:spcAft>
                <a:spcPts val="0"/>
              </a:spcAft>
              <a:buClr>
                <a:schemeClr val="dk1"/>
              </a:buClr>
              <a:buSzPts val="1600"/>
              <a:buFont typeface="Calibri" panose="020F0502020204030204"/>
              <a:buNone/>
            </a:pPr>
            <a:endParaRPr sz="1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 name="TextBox 1"/>
          <p:cNvSpPr txBox="1"/>
          <p:nvPr/>
        </p:nvSpPr>
        <p:spPr>
          <a:xfrm>
            <a:off x="474822" y="863187"/>
            <a:ext cx="8823960" cy="2030095"/>
          </a:xfrm>
          <a:prstGeom prst="rect">
            <a:avLst/>
          </a:prstGeom>
          <a:noFill/>
        </p:spPr>
        <p:txBody>
          <a:bodyPr wrap="square" rtlCol="0">
            <a:spAutoFit/>
          </a:bodyPr>
          <a:lstStyle/>
          <a:p>
            <a:endParaRPr lang="en-US"/>
          </a:p>
          <a:p>
            <a:pPr marL="342900" indent="-342900">
              <a:buAutoNum type="arabicParenR" startAt="3"/>
            </a:pPr>
            <a:endParaRPr lang="en-US"/>
          </a:p>
          <a:p>
            <a:endParaRPr lang="en-US"/>
          </a:p>
          <a:p>
            <a:endParaRPr lang="en-US"/>
          </a:p>
          <a:p>
            <a:endParaRPr lang="en-US"/>
          </a:p>
          <a:p>
            <a:endParaRPr lang="en-US"/>
          </a:p>
          <a:p>
            <a:endParaRPr lang="en-US"/>
          </a:p>
          <a:p>
            <a:endParaRPr lang="en-US"/>
          </a:p>
          <a:p>
            <a:r>
              <a:rPr lang="en-US"/>
              <a:t> </a:t>
            </a:r>
            <a:endParaRPr lang="en-IN"/>
          </a:p>
        </p:txBody>
      </p:sp>
      <p:graphicFrame>
        <p:nvGraphicFramePr>
          <p:cNvPr id="4" name="Table 3"/>
          <p:cNvGraphicFramePr/>
          <p:nvPr/>
        </p:nvGraphicFramePr>
        <p:xfrm>
          <a:off x="619760" y="1089660"/>
          <a:ext cx="10718800" cy="4564380"/>
        </p:xfrm>
        <a:graphic>
          <a:graphicData uri="http://schemas.openxmlformats.org/drawingml/2006/table">
            <a:tbl>
              <a:tblPr/>
              <a:tblGrid>
                <a:gridCol w="5359400"/>
                <a:gridCol w="5359400"/>
              </a:tblGrid>
              <a:tr h="380365">
                <a:tc>
                  <a:txBody>
                    <a:bodyPr/>
                    <a:p>
                      <a:r>
                        <a:rPr lang="en-US" altLang="zh-CN" sz="1100"/>
                        <a:t>Component</a:t>
                      </a:r>
                      <a:endParaRPr lang="en-US" altLang="zh-CN" sz="1100"/>
                    </a:p>
                  </a:txBody>
                  <a:tcPr marL="0" marR="0" marT="0" marB="0" anchor="ctr" anchorCtr="0">
                    <a:lnL>
                      <a:noFill/>
                    </a:lnL>
                    <a:lnR>
                      <a:noFill/>
                    </a:lnR>
                    <a:lnT>
                      <a:noFill/>
                    </a:lnT>
                    <a:lnB>
                      <a:noFill/>
                    </a:lnB>
                    <a:noFill/>
                  </a:tcPr>
                </a:tc>
                <a:tc>
                  <a:txBody>
                    <a:bodyPr/>
                    <a:p>
                      <a:r>
                        <a:rPr lang="en-US" altLang="zh-CN" sz="1100"/>
                        <a:t>Use in your project</a:t>
                      </a:r>
                      <a:endParaRPr lang="en-US" altLang="zh-CN" sz="1100"/>
                    </a:p>
                  </a:txBody>
                  <a:tcPr marL="0" marR="0" marT="0" marB="0" anchor="ctr" anchorCtr="0">
                    <a:lnL>
                      <a:noFill/>
                    </a:lnL>
                    <a:lnR>
                      <a:noFill/>
                    </a:lnR>
                    <a:lnT>
                      <a:noFill/>
                    </a:lnT>
                    <a:lnB>
                      <a:noFill/>
                    </a:lnB>
                    <a:noFill/>
                  </a:tcPr>
                </a:tc>
              </a:tr>
              <a:tr h="380365">
                <a:tc>
                  <a:txBody>
                    <a:bodyPr/>
                    <a:p>
                      <a:r>
                        <a:rPr lang="en-US" altLang="zh-CN" sz="1100"/>
                        <a:t>Chat/Input</a:t>
                      </a:r>
                      <a:endParaRPr lang="en-US" altLang="zh-CN" sz="1100"/>
                    </a:p>
                  </a:txBody>
                  <a:tcPr marL="0" marR="0" marT="0" marB="0" anchor="ctr" anchorCtr="0">
                    <a:lnL>
                      <a:noFill/>
                    </a:lnL>
                    <a:lnR>
                      <a:noFill/>
                    </a:lnR>
                    <a:lnT>
                      <a:noFill/>
                    </a:lnT>
                    <a:lnB>
                      <a:noFill/>
                    </a:lnB>
                    <a:noFill/>
                  </a:tcPr>
                </a:tc>
                <a:tc>
                  <a:txBody>
                    <a:bodyPr/>
                    <a:p>
                      <a:r>
                        <a:rPr lang="en-US" altLang="zh-CN" sz="1100"/>
                        <a:t>Receives sensor data or pollution-related queries</a:t>
                      </a:r>
                      <a:endParaRPr lang="en-US" altLang="zh-CN" sz="1100"/>
                    </a:p>
                  </a:txBody>
                  <a:tcPr marL="0" marR="0" marT="0" marB="0" anchor="ctr" anchorCtr="0">
                    <a:lnL>
                      <a:noFill/>
                    </a:lnL>
                    <a:lnR>
                      <a:noFill/>
                    </a:lnR>
                    <a:lnT>
                      <a:noFill/>
                    </a:lnT>
                    <a:lnB>
                      <a:noFill/>
                    </a:lnB>
                    <a:noFill/>
                  </a:tcPr>
                </a:tc>
              </a:tr>
              <a:tr h="380365">
                <a:tc>
                  <a:txBody>
                    <a:bodyPr/>
                    <a:p>
                      <a:r>
                        <a:rPr lang="en-US" altLang="zh-CN" sz="1100"/>
                        <a:t>Data / File Loader</a:t>
                      </a:r>
                      <a:endParaRPr lang="en-US" altLang="zh-CN" sz="1100"/>
                    </a:p>
                  </a:txBody>
                  <a:tcPr marL="0" marR="0" marT="0" marB="0" anchor="ctr" anchorCtr="0">
                    <a:lnL>
                      <a:noFill/>
                    </a:lnL>
                    <a:lnR>
                      <a:noFill/>
                    </a:lnR>
                    <a:lnT>
                      <a:noFill/>
                    </a:lnT>
                    <a:lnB>
                      <a:noFill/>
                    </a:lnB>
                    <a:noFill/>
                  </a:tcPr>
                </a:tc>
                <a:tc>
                  <a:txBody>
                    <a:bodyPr/>
                    <a:p>
                      <a:r>
                        <a:rPr lang="en-US" altLang="zh-CN" sz="1100"/>
                        <a:t>Loads environmental regulations, pollution standards, and historical data</a:t>
                      </a:r>
                      <a:endParaRPr lang="en-US" altLang="zh-CN" sz="1100"/>
                    </a:p>
                  </a:txBody>
                  <a:tcPr marL="0" marR="0" marT="0" marB="0" anchor="ctr" anchorCtr="0">
                    <a:lnL>
                      <a:noFill/>
                    </a:lnL>
                    <a:lnR>
                      <a:noFill/>
                    </a:lnR>
                    <a:lnT>
                      <a:noFill/>
                    </a:lnT>
                    <a:lnB>
                      <a:noFill/>
                    </a:lnB>
                    <a:noFill/>
                  </a:tcPr>
                </a:tc>
              </a:tr>
              <a:tr h="380365">
                <a:tc>
                  <a:txBody>
                    <a:bodyPr/>
                    <a:p>
                      <a:r>
                        <a:rPr lang="en-US" altLang="zh-CN" sz="1100"/>
                        <a:t>Split Text</a:t>
                      </a:r>
                      <a:endParaRPr lang="en-US" altLang="zh-CN" sz="1100"/>
                    </a:p>
                  </a:txBody>
                  <a:tcPr marL="0" marR="0" marT="0" marB="0" anchor="ctr" anchorCtr="0">
                    <a:lnL>
                      <a:noFill/>
                    </a:lnL>
                    <a:lnR>
                      <a:noFill/>
                    </a:lnR>
                    <a:lnT>
                      <a:noFill/>
                    </a:lnT>
                    <a:lnB>
                      <a:noFill/>
                    </a:lnB>
                    <a:noFill/>
                  </a:tcPr>
                </a:tc>
                <a:tc>
                  <a:txBody>
                    <a:bodyPr/>
                    <a:p>
                      <a:r>
                        <a:rPr lang="en-US" altLang="zh-CN" sz="1100"/>
                        <a:t>Breaks documents into smaller sections for RAG</a:t>
                      </a:r>
                      <a:endParaRPr lang="en-US" altLang="zh-CN" sz="1100"/>
                    </a:p>
                  </a:txBody>
                  <a:tcPr marL="0" marR="0" marT="0" marB="0" anchor="ctr" anchorCtr="0">
                    <a:lnL>
                      <a:noFill/>
                    </a:lnL>
                    <a:lnR>
                      <a:noFill/>
                    </a:lnR>
                    <a:lnT>
                      <a:noFill/>
                    </a:lnT>
                    <a:lnB>
                      <a:noFill/>
                    </a:lnB>
                    <a:noFill/>
                  </a:tcPr>
                </a:tc>
              </a:tr>
              <a:tr h="380365">
                <a:tc>
                  <a:txBody>
                    <a:bodyPr/>
                    <a:p>
                      <a:r>
                        <a:rPr lang="en-US" altLang="zh-CN" sz="1100"/>
                        <a:t>Embedding Model</a:t>
                      </a:r>
                      <a:endParaRPr lang="en-US" altLang="zh-CN" sz="1100"/>
                    </a:p>
                  </a:txBody>
                  <a:tcPr marL="0" marR="0" marT="0" marB="0" anchor="ctr" anchorCtr="0">
                    <a:lnL>
                      <a:noFill/>
                    </a:lnL>
                    <a:lnR>
                      <a:noFill/>
                    </a:lnR>
                    <a:lnT>
                      <a:noFill/>
                    </a:lnT>
                    <a:lnB>
                      <a:noFill/>
                    </a:lnB>
                    <a:noFill/>
                  </a:tcPr>
                </a:tc>
                <a:tc>
                  <a:txBody>
                    <a:bodyPr/>
                    <a:p>
                      <a:r>
                        <a:rPr lang="en-US" altLang="zh-CN" sz="1100"/>
                        <a:t>Converts environmental documents into vectors</a:t>
                      </a:r>
                      <a:endParaRPr lang="en-US" altLang="zh-CN" sz="1100"/>
                    </a:p>
                  </a:txBody>
                  <a:tcPr marL="0" marR="0" marT="0" marB="0" anchor="ctr" anchorCtr="0">
                    <a:lnL>
                      <a:noFill/>
                    </a:lnL>
                    <a:lnR>
                      <a:noFill/>
                    </a:lnR>
                    <a:lnT>
                      <a:noFill/>
                    </a:lnT>
                    <a:lnB>
                      <a:noFill/>
                    </a:lnB>
                    <a:noFill/>
                  </a:tcPr>
                </a:tc>
              </a:tr>
              <a:tr h="380365">
                <a:tc>
                  <a:txBody>
                    <a:bodyPr/>
                    <a:p>
                      <a:r>
                        <a:rPr lang="en-US" altLang="zh-CN" sz="1100"/>
                        <a:t>Chroma / FAISS</a:t>
                      </a:r>
                      <a:endParaRPr lang="en-US" altLang="zh-CN" sz="1100"/>
                    </a:p>
                  </a:txBody>
                  <a:tcPr marL="0" marR="0" marT="0" marB="0" anchor="ctr" anchorCtr="0">
                    <a:lnL>
                      <a:noFill/>
                    </a:lnL>
                    <a:lnR>
                      <a:noFill/>
                    </a:lnR>
                    <a:lnT>
                      <a:noFill/>
                    </a:lnT>
                    <a:lnB>
                      <a:noFill/>
                    </a:lnB>
                    <a:noFill/>
                  </a:tcPr>
                </a:tc>
                <a:tc>
                  <a:txBody>
                    <a:bodyPr/>
                    <a:p>
                      <a:r>
                        <a:rPr lang="en-US" altLang="zh-CN" sz="1100"/>
                        <a:t>Stores and retrieves relevant environmental information</a:t>
                      </a:r>
                      <a:endParaRPr lang="en-US" altLang="zh-CN" sz="1100"/>
                    </a:p>
                  </a:txBody>
                  <a:tcPr marL="0" marR="0" marT="0" marB="0" anchor="ctr" anchorCtr="0">
                    <a:lnL>
                      <a:noFill/>
                    </a:lnL>
                    <a:lnR>
                      <a:noFill/>
                    </a:lnR>
                    <a:lnT>
                      <a:noFill/>
                    </a:lnT>
                    <a:lnB>
                      <a:noFill/>
                    </a:lnB>
                    <a:noFill/>
                  </a:tcPr>
                </a:tc>
              </a:tr>
              <a:tr h="380365">
                <a:tc>
                  <a:txBody>
                    <a:bodyPr/>
                    <a:p>
                      <a:r>
                        <a:rPr lang="en-US" altLang="zh-CN" sz="1100"/>
                        <a:t>Retriever</a:t>
                      </a:r>
                      <a:endParaRPr lang="en-US" altLang="zh-CN" sz="1100"/>
                    </a:p>
                  </a:txBody>
                  <a:tcPr marL="0" marR="0" marT="0" marB="0" anchor="ctr" anchorCtr="0">
                    <a:lnL>
                      <a:noFill/>
                    </a:lnL>
                    <a:lnR>
                      <a:noFill/>
                    </a:lnR>
                    <a:lnT>
                      <a:noFill/>
                    </a:lnT>
                    <a:lnB>
                      <a:noFill/>
                    </a:lnB>
                    <a:noFill/>
                  </a:tcPr>
                </a:tc>
                <a:tc>
                  <a:txBody>
                    <a:bodyPr/>
                    <a:p>
                      <a:r>
                        <a:rPr lang="en-US" altLang="zh-CN" sz="1100"/>
                        <a:t>Finds relevant pollution limits/regulations</a:t>
                      </a:r>
                      <a:endParaRPr lang="en-US" altLang="zh-CN" sz="1100"/>
                    </a:p>
                  </a:txBody>
                  <a:tcPr marL="0" marR="0" marT="0" marB="0" anchor="ctr" anchorCtr="0">
                    <a:lnL>
                      <a:noFill/>
                    </a:lnL>
                    <a:lnR>
                      <a:noFill/>
                    </a:lnR>
                    <a:lnT>
                      <a:noFill/>
                    </a:lnT>
                    <a:lnB>
                      <a:noFill/>
                    </a:lnB>
                    <a:noFill/>
                  </a:tcPr>
                </a:tc>
              </a:tr>
              <a:tr h="380365">
                <a:tc>
                  <a:txBody>
                    <a:bodyPr/>
                    <a:p>
                      <a:r>
                        <a:rPr lang="en-US" altLang="zh-CN" sz="1100"/>
                        <a:t>Prompt Template</a:t>
                      </a:r>
                      <a:endParaRPr lang="en-US" altLang="zh-CN" sz="1100"/>
                    </a:p>
                  </a:txBody>
                  <a:tcPr marL="0" marR="0" marT="0" marB="0" anchor="ctr" anchorCtr="0">
                    <a:lnL>
                      <a:noFill/>
                    </a:lnL>
                    <a:lnR>
                      <a:noFill/>
                    </a:lnR>
                    <a:lnT>
                      <a:noFill/>
                    </a:lnT>
                    <a:lnB>
                      <a:noFill/>
                    </a:lnB>
                    <a:noFill/>
                  </a:tcPr>
                </a:tc>
                <a:tc>
                  <a:txBody>
                    <a:bodyPr/>
                    <a:p>
                      <a:r>
                        <a:rPr lang="en-US" altLang="zh-CN" sz="1100"/>
                        <a:t>Gives instructions to the AI agent</a:t>
                      </a:r>
                      <a:endParaRPr lang="en-US" altLang="zh-CN" sz="1100"/>
                    </a:p>
                  </a:txBody>
                  <a:tcPr marL="0" marR="0" marT="0" marB="0" anchor="ctr" anchorCtr="0">
                    <a:lnL>
                      <a:noFill/>
                    </a:lnL>
                    <a:lnR>
                      <a:noFill/>
                    </a:lnR>
                    <a:lnT>
                      <a:noFill/>
                    </a:lnT>
                    <a:lnB>
                      <a:noFill/>
                    </a:lnB>
                    <a:noFill/>
                  </a:tcPr>
                </a:tc>
              </a:tr>
              <a:tr h="380365">
                <a:tc>
                  <a:txBody>
                    <a:bodyPr/>
                    <a:p>
                      <a:r>
                        <a:rPr lang="en-US" altLang="zh-CN" sz="1100"/>
                        <a:t>IBM Granite Model</a:t>
                      </a:r>
                      <a:endParaRPr lang="en-US" altLang="zh-CN" sz="1100"/>
                    </a:p>
                  </a:txBody>
                  <a:tcPr marL="0" marR="0" marT="0" marB="0" anchor="ctr" anchorCtr="0">
                    <a:lnL>
                      <a:noFill/>
                    </a:lnL>
                    <a:lnR>
                      <a:noFill/>
                    </a:lnR>
                    <a:lnT>
                      <a:noFill/>
                    </a:lnT>
                    <a:lnB>
                      <a:noFill/>
                    </a:lnB>
                    <a:noFill/>
                  </a:tcPr>
                </a:tc>
                <a:tc>
                  <a:txBody>
                    <a:bodyPr/>
                    <a:p>
                      <a:r>
                        <a:rPr lang="en-US" altLang="zh-CN" sz="1100"/>
                        <a:t>Performs reasoning, analysis, and generates responses</a:t>
                      </a:r>
                      <a:endParaRPr lang="en-US" altLang="zh-CN" sz="1100"/>
                    </a:p>
                  </a:txBody>
                  <a:tcPr marL="0" marR="0" marT="0" marB="0" anchor="ctr" anchorCtr="0">
                    <a:lnL>
                      <a:noFill/>
                    </a:lnL>
                    <a:lnR>
                      <a:noFill/>
                    </a:lnR>
                    <a:lnT>
                      <a:noFill/>
                    </a:lnT>
                    <a:lnB>
                      <a:noFill/>
                    </a:lnB>
                    <a:noFill/>
                  </a:tcPr>
                </a:tc>
              </a:tr>
              <a:tr h="380365">
                <a:tc>
                  <a:txBody>
                    <a:bodyPr/>
                    <a:p>
                      <a:r>
                        <a:rPr lang="en-US" altLang="zh-CN" sz="1100"/>
                        <a:t>Agent</a:t>
                      </a:r>
                      <a:endParaRPr lang="en-US" altLang="zh-CN" sz="1100"/>
                    </a:p>
                  </a:txBody>
                  <a:tcPr marL="0" marR="0" marT="0" marB="0" anchor="ctr" anchorCtr="0">
                    <a:lnL>
                      <a:noFill/>
                    </a:lnL>
                    <a:lnR>
                      <a:noFill/>
                    </a:lnR>
                    <a:lnT>
                      <a:noFill/>
                    </a:lnT>
                    <a:lnB>
                      <a:noFill/>
                    </a:lnB>
                    <a:noFill/>
                  </a:tcPr>
                </a:tc>
                <a:tc>
                  <a:txBody>
                    <a:bodyPr/>
                    <a:p>
                      <a:r>
                        <a:rPr lang="en-US" altLang="zh-CN" sz="1100"/>
                        <a:t>Makes decisions and coordinates tools/workflow</a:t>
                      </a:r>
                      <a:endParaRPr lang="en-US" altLang="zh-CN" sz="1100"/>
                    </a:p>
                  </a:txBody>
                  <a:tcPr marL="0" marR="0" marT="0" marB="0" anchor="ctr" anchorCtr="0">
                    <a:lnL>
                      <a:noFill/>
                    </a:lnL>
                    <a:lnR>
                      <a:noFill/>
                    </a:lnR>
                    <a:lnT>
                      <a:noFill/>
                    </a:lnT>
                    <a:lnB>
                      <a:noFill/>
                    </a:lnB>
                    <a:noFill/>
                  </a:tcPr>
                </a:tc>
              </a:tr>
              <a:tr h="380365">
                <a:tc>
                  <a:txBody>
                    <a:bodyPr/>
                    <a:p>
                      <a:r>
                        <a:rPr lang="en-US" altLang="zh-CN" sz="1100"/>
                        <a:t>Conditional Router / If-Else</a:t>
                      </a:r>
                      <a:endParaRPr lang="en-US" altLang="zh-CN" sz="1100"/>
                    </a:p>
                  </a:txBody>
                  <a:tcPr marL="0" marR="0" marT="0" marB="0" anchor="ctr" anchorCtr="0">
                    <a:lnL>
                      <a:noFill/>
                    </a:lnL>
                    <a:lnR>
                      <a:noFill/>
                    </a:lnR>
                    <a:lnT>
                      <a:noFill/>
                    </a:lnT>
                    <a:lnB>
                      <a:noFill/>
                    </a:lnB>
                    <a:noFill/>
                  </a:tcPr>
                </a:tc>
                <a:tc>
                  <a:txBody>
                    <a:bodyPr/>
                    <a:p>
                      <a:r>
                        <a:rPr lang="en-US" altLang="zh-CN" sz="1100"/>
                        <a:t>Checks </a:t>
                      </a:r>
                      <a:r>
                        <a:rPr lang="en-US" altLang="zh-CN" sz="1100"/>
                        <a:t>“Violation Found? YES / NO”</a:t>
                      </a:r>
                      <a:endParaRPr lang="en-US" altLang="zh-CN" sz="1100"/>
                    </a:p>
                  </a:txBody>
                  <a:tcPr marL="0" marR="0" marT="0" marB="0" anchor="ctr" anchorCtr="0">
                    <a:lnL>
                      <a:noFill/>
                    </a:lnL>
                    <a:lnR>
                      <a:noFill/>
                    </a:lnR>
                    <a:lnT>
                      <a:noFill/>
                    </a:lnT>
                    <a:lnB>
                      <a:noFill/>
                    </a:lnB>
                    <a:noFill/>
                  </a:tcPr>
                </a:tc>
              </a:tr>
              <a:tr h="380365">
                <a:tc>
                  <a:txBody>
                    <a:bodyPr/>
                    <a:p>
                      <a:r>
                        <a:rPr lang="en-US" altLang="zh-CN" sz="1100"/>
                        <a:t>Output / Chat Output</a:t>
                      </a:r>
                      <a:endParaRPr lang="en-US" altLang="zh-CN" sz="1100"/>
                    </a:p>
                  </a:txBody>
                  <a:tcPr marL="0" marR="0" marT="0" marB="0" anchor="ctr" anchorCtr="0">
                    <a:lnL>
                      <a:noFill/>
                    </a:lnL>
                    <a:lnR>
                      <a:noFill/>
                    </a:lnR>
                    <a:lnT>
                      <a:noFill/>
                    </a:lnT>
                    <a:lnB>
                      <a:noFill/>
                    </a:lnB>
                    <a:noFill/>
                  </a:tcPr>
                </a:tc>
                <a:tc>
                  <a:txBody>
                    <a:bodyPr/>
                    <a:p>
                      <a:r>
                        <a:rPr lang="en-US" altLang="zh-CN" sz="1100"/>
                        <a:t>Displays alerts, risk assessment, and recommendations</a:t>
                      </a:r>
                      <a:endParaRPr lang="en-US" altLang="zh-CN" sz="1100"/>
                    </a:p>
                  </a:txBody>
                  <a:tcPr marL="0" marR="0" marT="0" marB="0" anchor="ctr" anchorCtr="0">
                    <a:lnL>
                      <a:noFill/>
                    </a:lnL>
                    <a:lnR>
                      <a:noFill/>
                    </a:lnR>
                    <a:lnT>
                      <a:noFill/>
                    </a:lnT>
                    <a:lnB>
                      <a:noFill/>
                    </a:lnB>
                    <a:no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panose="02020603050405020304"/>
              <a:buNone/>
            </a:pPr>
            <a:r>
              <a:rPr lang="en-US" sz="2400" b="1" err="1">
                <a:sym typeface="Times New Roman" panose="02020603050405020304"/>
              </a:rPr>
              <a:t>Langflow</a:t>
            </a:r>
            <a:r>
              <a:rPr lang="en-US" sz="3500" b="1" i="0" u="none" strike="noStrike" cap="none">
                <a:solidFill>
                  <a:srgbClr val="051D3A"/>
                </a:solidFill>
                <a:latin typeface="Times New Roman" panose="02020603050405020304"/>
                <a:ea typeface="Times New Roman" panose="02020603050405020304"/>
                <a:cs typeface="Times New Roman" panose="02020603050405020304"/>
                <a:sym typeface="Times New Roman" panose="02020603050405020304"/>
              </a:rPr>
              <a:t> </a:t>
            </a:r>
            <a:r>
              <a:rPr lang="en-US" sz="2400" b="1">
                <a:sym typeface="Times New Roman" panose="02020603050405020304"/>
              </a:rPr>
              <a:t>workflow -</a:t>
            </a:r>
            <a:endParaRPr sz="2400" b="1">
              <a:sym typeface="Times New Roman" panose="02020603050405020304"/>
            </a:endParaRPr>
          </a:p>
        </p:txBody>
      </p:sp>
      <p:sp>
        <p:nvSpPr>
          <p:cNvPr id="3" name="Text Box 2"/>
          <p:cNvSpPr txBox="1"/>
          <p:nvPr/>
        </p:nvSpPr>
        <p:spPr>
          <a:xfrm>
            <a:off x="121285" y="975995"/>
            <a:ext cx="11226800" cy="5198745"/>
          </a:xfrm>
          <a:prstGeom prst="rect">
            <a:avLst/>
          </a:prstGeom>
          <a:noFill/>
        </p:spPr>
        <p:txBody>
          <a:bodyPr wrap="square" rtlCol="0">
            <a:noAutofit/>
          </a:bodyPr>
          <a:p>
            <a:endParaRPr lang="en-US"/>
          </a:p>
        </p:txBody>
      </p:sp>
      <p:pic>
        <p:nvPicPr>
          <p:cNvPr id="7" name="Picture 6"/>
          <p:cNvPicPr>
            <a:picLocks noChangeAspect="1"/>
          </p:cNvPicPr>
          <p:nvPr/>
        </p:nvPicPr>
        <p:blipFill>
          <a:blip r:embed="rId1"/>
          <a:stretch>
            <a:fillRect/>
          </a:stretch>
        </p:blipFill>
        <p:spPr>
          <a:xfrm>
            <a:off x="2434590" y="876935"/>
            <a:ext cx="8481060" cy="586168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a:solidFill>
                  <a:schemeClr val="dk1"/>
                </a:solidFill>
                <a:latin typeface="Calibri" panose="020F0502020204030204"/>
                <a:ea typeface="Calibri" panose="020F0502020204030204"/>
                <a:cs typeface="Calibri" panose="020F0502020204030204"/>
                <a:sym typeface="Calibri" panose="020F0502020204030204"/>
              </a:rPr>
              <a:t>Architecture blueprint</a:t>
            </a:r>
            <a:endParaRPr lang="en-US" sz="2400"/>
          </a:p>
        </p:txBody>
      </p:sp>
      <p:sp>
        <p:nvSpPr>
          <p:cNvPr id="4" name="Text Box 3"/>
          <p:cNvSpPr txBox="1"/>
          <p:nvPr/>
        </p:nvSpPr>
        <p:spPr>
          <a:xfrm>
            <a:off x="272415" y="910590"/>
            <a:ext cx="11456035" cy="5707380"/>
          </a:xfrm>
          <a:prstGeom prst="rect">
            <a:avLst/>
          </a:prstGeom>
          <a:noFill/>
        </p:spPr>
        <p:txBody>
          <a:bodyPr wrap="square" rtlCol="0">
            <a:noAutofit/>
          </a:bodyPr>
          <a:p>
            <a:endParaRPr lang="en-US"/>
          </a:p>
        </p:txBody>
      </p:sp>
      <p:pic>
        <p:nvPicPr>
          <p:cNvPr id="5" name="Picture 4"/>
          <p:cNvPicPr>
            <a:picLocks noChangeAspect="1"/>
          </p:cNvPicPr>
          <p:nvPr/>
        </p:nvPicPr>
        <p:blipFill>
          <a:blip r:embed="rId1"/>
          <a:stretch>
            <a:fillRect/>
          </a:stretch>
        </p:blipFill>
        <p:spPr>
          <a:xfrm>
            <a:off x="1585595" y="783590"/>
            <a:ext cx="9020175" cy="569785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1"/>
          <a:srcRect/>
          <a:stretch>
            <a:fillRect/>
          </a:stretch>
        </p:blipFill>
        <p:spPr>
          <a:xfrm>
            <a:off x="8371985" y="1167493"/>
            <a:ext cx="3015343" cy="4523014"/>
          </a:xfrm>
          <a:prstGeom prst="rect">
            <a:avLst/>
          </a:prstGeom>
          <a:noFill/>
          <a:ln>
            <a:noFill/>
          </a:ln>
        </p:spPr>
      </p:pic>
      <p:sp>
        <p:nvSpPr>
          <p:cNvPr id="2" name="TextBox 1"/>
          <p:cNvSpPr txBox="1"/>
          <p:nvPr/>
        </p:nvSpPr>
        <p:spPr>
          <a:xfrm>
            <a:off x="475488" y="283464"/>
            <a:ext cx="9317736" cy="584775"/>
          </a:xfrm>
          <a:prstGeom prst="rect">
            <a:avLst/>
          </a:prstGeom>
          <a:noFill/>
        </p:spPr>
        <p:txBody>
          <a:bodyPr wrap="square" rtlCol="0">
            <a:spAutoFit/>
          </a:bodyPr>
          <a:lstStyle/>
          <a:p>
            <a:r>
              <a:rPr lang="en-US" sz="3200" b="1"/>
              <a:t>Role of Agentic AI in the solution </a:t>
            </a:r>
            <a:endParaRPr lang="en-IN" sz="3200" b="1"/>
          </a:p>
        </p:txBody>
      </p:sp>
      <p:sp>
        <p:nvSpPr>
          <p:cNvPr id="3" name="TextBox 2"/>
          <p:cNvSpPr txBox="1"/>
          <p:nvPr/>
        </p:nvSpPr>
        <p:spPr>
          <a:xfrm>
            <a:off x="621792" y="1167493"/>
            <a:ext cx="7406640" cy="4184650"/>
          </a:xfrm>
          <a:prstGeom prst="rect">
            <a:avLst/>
          </a:prstGeom>
          <a:noFill/>
        </p:spPr>
        <p:txBody>
          <a:bodyPr wrap="square" rtlCol="0">
            <a:spAutoFit/>
          </a:bodyPr>
          <a:lstStyle/>
          <a:p>
            <a:r>
              <a:rPr lang="en-US" b="1"/>
              <a:t>Role of Agentic AI : </a:t>
            </a:r>
            <a:endParaRPr lang="en-US" b="1"/>
          </a:p>
          <a:p>
            <a:r>
              <a:rPr lang="en-US" altLang="en-US" b="1"/>
              <a:t>Continuous Monitoring</a:t>
            </a:r>
            <a:endParaRPr lang="en-US" altLang="en-US" b="1"/>
          </a:p>
          <a:p>
            <a:r>
              <a:rPr lang="en-US" altLang="en-US" b="1"/>
              <a:t>Agentic AI continuously analyzes air and water sensor data to identify abnormal pollution levels.</a:t>
            </a:r>
            <a:endParaRPr lang="en-US" altLang="en-US" b="1"/>
          </a:p>
          <a:p>
            <a:r>
              <a:rPr lang="en-US" altLang="en-US" b="1"/>
              <a:t>Automatic Violation Detection</a:t>
            </a:r>
            <a:endParaRPr lang="en-US" altLang="en-US" b="1"/>
          </a:p>
          <a:p>
            <a:r>
              <a:rPr lang="en-US" altLang="en-US" b="1"/>
              <a:t>It compares sensor readings with environmental standards and permitted limits to detect potential violations.</a:t>
            </a:r>
            <a:endParaRPr lang="en-US" altLang="en-US" b="1"/>
          </a:p>
          <a:p>
            <a:r>
              <a:rPr lang="en-US" altLang="en-US" b="1"/>
              <a:t>Reasoning &amp; Investigation</a:t>
            </a:r>
            <a:endParaRPr lang="en-US" altLang="en-US" b="1"/>
          </a:p>
          <a:p>
            <a:r>
              <a:rPr lang="en-US" altLang="en-US" b="1"/>
              <a:t>Instead of only detecting an issue, the AI analyzes the data, identifies possible causes, and investigates the situation.</a:t>
            </a:r>
            <a:endParaRPr lang="en-US" altLang="en-US" b="1"/>
          </a:p>
          <a:p>
            <a:r>
              <a:rPr lang="en-US" altLang="en-US" b="1"/>
              <a:t>Risk-Based Decision Making</a:t>
            </a:r>
            <a:endParaRPr lang="en-US" altLang="en-US" b="1"/>
          </a:p>
          <a:p>
            <a:r>
              <a:rPr lang="en-US" altLang="en-US" b="1"/>
              <a:t>It evaluates the severity and environmental impact of a violation and decides which incidents need immediate attention.</a:t>
            </a:r>
            <a:endParaRPr lang="en-US" altLang="en-US" b="1"/>
          </a:p>
          <a:p>
            <a:r>
              <a:rPr lang="en-US" altLang="en-US" b="1"/>
              <a:t>Autonomous Alert &amp; Escalation</a:t>
            </a:r>
            <a:endParaRPr lang="en-US" altLang="en-US" b="1"/>
          </a:p>
          <a:p>
            <a:r>
              <a:rPr lang="en-US" altLang="en-US" b="1"/>
              <a:t>Based on the risk level, the system determines whether to alert the industry, regulatory authority, or nearby community.</a:t>
            </a:r>
            <a:endParaRPr lang="en-US" altLang="en-US" b="1"/>
          </a:p>
          <a:p>
            <a:r>
              <a:rPr lang="en-US" altLang="en-US" b="1"/>
              <a:t>Actionable Recommendations</a:t>
            </a:r>
            <a:endParaRPr lang="en-US" altLang="en-US" b="1"/>
          </a:p>
          <a:p>
            <a:r>
              <a:rPr lang="en-US" altLang="en-US" b="1"/>
              <a:t>The AI recommends corrective actions and helps stakeholders respond quickly to reduce pollution.</a:t>
            </a:r>
            <a:endParaRPr lang="en-US" altLang="en-US" b="1"/>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8" name="Google Shape;278;p18"/>
          <p:cNvSpPr/>
          <p:nvPr/>
        </p:nvSpPr>
        <p:spPr>
          <a:xfrm>
            <a:off x="793192" y="341560"/>
            <a:ext cx="6444496" cy="704017"/>
          </a:xfrm>
          <a:prstGeom prst="rect">
            <a:avLst/>
          </a:prstGeom>
          <a:noFill/>
          <a:ln>
            <a:noFill/>
          </a:ln>
        </p:spPr>
        <p:txBody>
          <a:bodyPr spcFirstLastPara="1" wrap="square" lIns="0" tIns="0" rIns="0" bIns="0" anchor="t" anchorCtr="0">
            <a:noAutofit/>
          </a:bodyPr>
          <a:lstStyle/>
          <a:p>
            <a:pPr>
              <a:lnSpc>
                <a:spcPct val="157000"/>
              </a:lnSpc>
              <a:buClr>
                <a:srgbClr val="051D3A"/>
              </a:buClr>
              <a:buSzPts val="3500"/>
            </a:pPr>
            <a:r>
              <a:rPr lang="en-US" sz="2400" b="1">
                <a:sym typeface="Times New Roman" panose="02020603050405020304"/>
              </a:rPr>
              <a:t>Token Usage </a:t>
            </a:r>
            <a:endParaRPr sz="2400" b="1">
              <a:sym typeface="Times New Roman" panose="02020603050405020304"/>
            </a:endParaRPr>
          </a:p>
        </p:txBody>
      </p:sp>
      <p:sp>
        <p:nvSpPr>
          <p:cNvPr id="280" name="Google Shape;280;p18"/>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1" name="Google Shape;281;p18"/>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2" name="Google Shape;282;p18"/>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 name="TextBox 4"/>
          <p:cNvSpPr txBox="1"/>
          <p:nvPr/>
        </p:nvSpPr>
        <p:spPr>
          <a:xfrm>
            <a:off x="897392" y="1042133"/>
            <a:ext cx="437117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a:t>11,761 token are used</a:t>
            </a:r>
            <a:endParaRPr lang="en-US"/>
          </a:p>
        </p:txBody>
      </p:sp>
      <p:pic>
        <p:nvPicPr>
          <p:cNvPr id="3" name="Picture 2"/>
          <p:cNvPicPr>
            <a:picLocks noChangeAspect="1"/>
          </p:cNvPicPr>
          <p:nvPr/>
        </p:nvPicPr>
        <p:blipFill>
          <a:blip r:embed="rId1"/>
          <a:stretch>
            <a:fillRect/>
          </a:stretch>
        </p:blipFill>
        <p:spPr>
          <a:xfrm>
            <a:off x="1190625" y="1685925"/>
            <a:ext cx="9810750" cy="34861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 name="TextBox 1"/>
          <p:cNvSpPr txBox="1"/>
          <p:nvPr/>
        </p:nvSpPr>
        <p:spPr>
          <a:xfrm>
            <a:off x="777240" y="484632"/>
            <a:ext cx="7123176" cy="461665"/>
          </a:xfrm>
          <a:prstGeom prst="rect">
            <a:avLst/>
          </a:prstGeom>
          <a:noFill/>
        </p:spPr>
        <p:txBody>
          <a:bodyPr wrap="square" rtlCol="0">
            <a:spAutoFit/>
          </a:bodyPr>
          <a:lstStyle/>
          <a:p>
            <a:r>
              <a:rPr lang="en-US" sz="2400" b="1"/>
              <a:t>Novelty and Uniqueness</a:t>
            </a:r>
            <a:endParaRPr lang="en-IN" sz="2400" b="1"/>
          </a:p>
        </p:txBody>
      </p:sp>
      <p:sp>
        <p:nvSpPr>
          <p:cNvPr id="3" name="TextBox 2"/>
          <p:cNvSpPr txBox="1"/>
          <p:nvPr/>
        </p:nvSpPr>
        <p:spPr>
          <a:xfrm>
            <a:off x="777240" y="1207008"/>
            <a:ext cx="11301984" cy="5569585"/>
          </a:xfrm>
          <a:prstGeom prst="rect">
            <a:avLst/>
          </a:prstGeom>
          <a:noFill/>
        </p:spPr>
        <p:txBody>
          <a:bodyPr wrap="square" rtlCol="0">
            <a:spAutoFit/>
          </a:bodyPr>
          <a:lstStyle/>
          <a:p>
            <a:r>
              <a:rPr lang="en-US" altLang="en-US" sz="1800"/>
              <a:t>Multi-Agent AI Instead of Simple Monitoring</a:t>
            </a:r>
            <a:endParaRPr lang="en-US" altLang="en-US" sz="1800"/>
          </a:p>
          <a:p>
            <a:r>
              <a:rPr lang="en-US" altLang="en-US" sz="1800"/>
              <a:t>Unlike traditional systems that only display sensor readings, EcoSentinel AI uses specialized agents for monitoring, compliance, risk assessment, alerting, and recommendations.</a:t>
            </a:r>
            <a:endParaRPr lang="en-US" altLang="en-US" sz="1800"/>
          </a:p>
          <a:p>
            <a:r>
              <a:rPr lang="en-US" altLang="en-US" sz="1800"/>
              <a:t>Real-Time Violation Detection</a:t>
            </a:r>
            <a:endParaRPr lang="en-US" altLang="en-US" sz="1800"/>
          </a:p>
          <a:p>
            <a:r>
              <a:rPr lang="en-US" altLang="en-US" sz="1800"/>
              <a:t>The system continuously analyzes air and water pollution data and identifies abnormal values or potential violations as they occur.</a:t>
            </a:r>
            <a:endParaRPr lang="en-US" altLang="en-US" sz="1800"/>
          </a:p>
          <a:p>
            <a:r>
              <a:rPr lang="en-US" altLang="en-US" sz="1800"/>
              <a:t>AI-Based Risk Prioritization</a:t>
            </a:r>
            <a:endParaRPr lang="en-US" altLang="en-US" sz="1800"/>
          </a:p>
          <a:p>
            <a:r>
              <a:rPr lang="en-US" altLang="en-US" sz="1800"/>
              <a:t>Not every violation has the same impact. The AI evaluates severity, environmental risk, and urgency to prioritize critical incidents.</a:t>
            </a:r>
            <a:endParaRPr lang="en-US" altLang="en-US" sz="1800"/>
          </a:p>
          <a:p>
            <a:r>
              <a:rPr lang="en-US" altLang="en-US" sz="1800"/>
              <a:t>Automatic Alert &amp; Escalation</a:t>
            </a:r>
            <a:endParaRPr lang="en-US" altLang="en-US" sz="1800"/>
          </a:p>
          <a:p>
            <a:r>
              <a:rPr lang="en-US" altLang="en-US" sz="1800"/>
              <a:t>When a serious violation is detected, the system can automatically determine who should be alerted—industry, regulatory authority, or nearby community.</a:t>
            </a:r>
            <a:endParaRPr lang="en-US" altLang="en-US" sz="1800"/>
          </a:p>
          <a:p>
            <a:r>
              <a:rPr lang="en-US" altLang="en-US" sz="1800"/>
              <a:t>RAG-Based Regulatory Intelligence</a:t>
            </a:r>
            <a:endParaRPr lang="en-US" altLang="en-US" sz="1800"/>
          </a:p>
          <a:p>
            <a:r>
              <a:rPr lang="en-US" altLang="en-US" sz="1800"/>
              <a:t>Instead of relying only on the LLM's knowledge, RAG retrieves relevant pollution standards, environmental regulations, and industrial guidelines before generating its assessment.</a:t>
            </a:r>
            <a:endParaRPr lang="en-US" altLang="en-US" sz="1800"/>
          </a:p>
          <a:p>
            <a:r>
              <a:rPr lang="en-US" altLang="en-US" sz="1800"/>
              <a:t>From Detection to Action</a:t>
            </a:r>
            <a:endParaRPr lang="en-US" altLang="en-US" sz="1800"/>
          </a:p>
          <a:p>
            <a:r>
              <a:rPr lang="en-US" altLang="en-US" sz="1800"/>
              <a:t>The key uniqueness is the complete chain:</a:t>
            </a:r>
            <a:endParaRPr lang="en-US" altLang="en-US" sz="1800"/>
          </a:p>
          <a:p>
            <a:r>
              <a:rPr lang="en-US" altLang="en-US" sz="1800"/>
              <a:t>Observe → Detect → Investigate → Assess → Prioritize → Alert → Recommend Action</a:t>
            </a:r>
            <a:endParaRPr lang="en-US" altLang="en-US" sz="1800"/>
          </a:p>
          <a:p>
            <a:r>
              <a:rPr lang="en-US" altLang="en-US" sz="1800"/>
              <a:t>This transforms raw pollution data into actionable environmental decisions.</a:t>
            </a:r>
            <a:endParaRPr lang="en-US" altLang="en-US" sz="1800"/>
          </a:p>
          <a:p>
            <a:endParaRPr lang="en-IN"/>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8" name="Google Shape;278;p18"/>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000"/>
              </a:lnSpc>
              <a:spcBef>
                <a:spcPts val="0"/>
              </a:spcBef>
              <a:spcAft>
                <a:spcPts val="0"/>
              </a:spcAft>
              <a:buClr>
                <a:srgbClr val="051D3A"/>
              </a:buClr>
              <a:buSzPts val="3500"/>
              <a:buFont typeface="Times New Roman" panose="02020603050405020304"/>
              <a:buNone/>
            </a:pPr>
            <a:r>
              <a:rPr lang="en-US" sz="2400" b="1">
                <a:sym typeface="Times New Roman" panose="02020603050405020304"/>
              </a:rPr>
              <a:t>Git Hub Link</a:t>
            </a:r>
            <a:endParaRPr sz="2400" b="1">
              <a:sym typeface="Times New Roman" panose="02020603050405020304"/>
            </a:endParaRPr>
          </a:p>
        </p:txBody>
      </p:sp>
      <p:sp>
        <p:nvSpPr>
          <p:cNvPr id="279" name="Google Shape;279;p18"/>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Please create public </a:t>
            </a:r>
            <a:r>
              <a:rPr lang="en-US" sz="1850" b="0" i="0" u="none" strike="noStrike" cap="none" dirty="0" err="1">
                <a:solidFill>
                  <a:srgbClr val="2B3541"/>
                </a:solidFill>
                <a:latin typeface="Times New Roman" panose="02020603050405020304"/>
                <a:ea typeface="Times New Roman" panose="02020603050405020304"/>
                <a:cs typeface="Times New Roman" panose="02020603050405020304"/>
                <a:sym typeface="Times New Roman" panose="02020603050405020304"/>
              </a:rPr>
              <a:t>github</a:t>
            </a:r>
            <a:r>
              <a:rPr lang="en-US" sz="1850" b="0" i="0" u="none" strike="noStrike" cap="none" dirty="0">
                <a:solidFill>
                  <a:srgbClr val="2B3541"/>
                </a:solidFill>
                <a:latin typeface="Times New Roman" panose="02020603050405020304"/>
                <a:ea typeface="Times New Roman" panose="02020603050405020304"/>
                <a:cs typeface="Times New Roman" panose="02020603050405020304"/>
                <a:sym typeface="Times New Roman" panose="02020603050405020304"/>
              </a:rPr>
              <a:t> repository (Enable Add README  button while creating repository) with format – </a:t>
            </a:r>
            <a:endParaRPr lang="en-US" sz="1850" b="0" i="0" u="none" strike="noStrike" cap="none" dirty="0">
              <a:solidFill>
                <a:srgbClr val="2B354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dirty="0">
                <a:solidFill>
                  <a:srgbClr val="2B3541"/>
                </a:solidFill>
                <a:latin typeface="Times New Roman" panose="02020603050405020304"/>
                <a:ea typeface="Times New Roman" panose="02020603050405020304"/>
                <a:cs typeface="Times New Roman" panose="02020603050405020304"/>
                <a:sym typeface="Times New Roman" panose="02020603050405020304"/>
              </a:rPr>
              <a:t>Please test and Paste the working  </a:t>
            </a:r>
            <a:r>
              <a:rPr lang="en-US" sz="1850" dirty="0" err="1">
                <a:solidFill>
                  <a:srgbClr val="2B3541"/>
                </a:solidFill>
                <a:latin typeface="Times New Roman" panose="02020603050405020304"/>
                <a:ea typeface="Times New Roman" panose="02020603050405020304"/>
                <a:cs typeface="Times New Roman" panose="02020603050405020304"/>
                <a:sym typeface="Times New Roman" panose="02020603050405020304"/>
              </a:rPr>
              <a:t>Github</a:t>
            </a:r>
            <a:r>
              <a:rPr lang="en-US" sz="1850" dirty="0">
                <a:solidFill>
                  <a:srgbClr val="2B3541"/>
                </a:solidFill>
                <a:latin typeface="Times New Roman" panose="02020603050405020304"/>
                <a:ea typeface="Times New Roman" panose="02020603050405020304"/>
                <a:cs typeface="Times New Roman" panose="02020603050405020304"/>
                <a:sym typeface="Times New Roman" panose="02020603050405020304"/>
              </a:rPr>
              <a:t> URL –</a:t>
            </a:r>
            <a:endParaRPr lang="en-US" sz="1850" dirty="0">
              <a:solidFill>
                <a:srgbClr val="2B354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1" dirty="0">
                <a:solidFill>
                  <a:srgbClr val="2B3541"/>
                </a:solidFill>
                <a:latin typeface="Times New Roman" panose="02020603050405020304"/>
                <a:ea typeface="Times New Roman" panose="02020603050405020304"/>
                <a:cs typeface="Times New Roman" panose="02020603050405020304"/>
                <a:sym typeface="Times New Roman" panose="02020603050405020304"/>
              </a:rPr>
              <a:t>Make sure you have Uploaded following three files into your </a:t>
            </a:r>
            <a:r>
              <a:rPr lang="en-US" sz="1850" b="1" dirty="0" err="1">
                <a:solidFill>
                  <a:srgbClr val="2B3541"/>
                </a:solidFill>
                <a:latin typeface="Times New Roman" panose="02020603050405020304"/>
                <a:ea typeface="Times New Roman" panose="02020603050405020304"/>
                <a:cs typeface="Times New Roman" panose="02020603050405020304"/>
                <a:sym typeface="Times New Roman" panose="02020603050405020304"/>
              </a:rPr>
              <a:t>github</a:t>
            </a:r>
            <a:r>
              <a:rPr lang="en-US" sz="1850" b="1" dirty="0">
                <a:solidFill>
                  <a:srgbClr val="2B3541"/>
                </a:solidFill>
                <a:latin typeface="Times New Roman" panose="02020603050405020304"/>
                <a:ea typeface="Times New Roman" panose="02020603050405020304"/>
                <a:cs typeface="Times New Roman" panose="02020603050405020304"/>
                <a:sym typeface="Times New Roman" panose="02020603050405020304"/>
              </a:rPr>
              <a:t> repository  </a:t>
            </a:r>
            <a:br>
              <a:rPr lang="en-US" sz="1850" dirty="0">
                <a:latin typeface="Times New Roman" panose="02020603050405020304"/>
                <a:ea typeface="Times New Roman" panose="02020603050405020304"/>
                <a:cs typeface="Times New Roman" panose="02020603050405020304"/>
              </a:rPr>
            </a:br>
            <a:r>
              <a:rPr lang="en-US" sz="1850" dirty="0">
                <a:solidFill>
                  <a:srgbClr val="2B3541"/>
                </a:solidFill>
                <a:latin typeface="Times New Roman" panose="02020603050405020304"/>
                <a:ea typeface="Times New Roman" panose="02020603050405020304"/>
                <a:cs typeface="Times New Roman" panose="02020603050405020304"/>
                <a:sym typeface="Times New Roman" panose="02020603050405020304"/>
              </a:rPr>
              <a:t>1) </a:t>
            </a:r>
            <a:r>
              <a:rPr lang="en-US" sz="1850" dirty="0" err="1">
                <a:solidFill>
                  <a:srgbClr val="2B3541"/>
                </a:solidFill>
                <a:latin typeface="Times New Roman" panose="02020603050405020304"/>
                <a:ea typeface="Times New Roman" panose="02020603050405020304"/>
                <a:cs typeface="Times New Roman" panose="02020603050405020304"/>
                <a:sym typeface="Times New Roman" panose="02020603050405020304"/>
              </a:rPr>
              <a:t>app.json</a:t>
            </a:r>
            <a:r>
              <a:rPr lang="en-US" sz="1850" dirty="0">
                <a:solidFill>
                  <a:srgbClr val="2B3541"/>
                </a:solidFill>
                <a:latin typeface="Times New Roman" panose="02020603050405020304"/>
                <a:ea typeface="Times New Roman" panose="02020603050405020304"/>
                <a:cs typeface="Times New Roman" panose="02020603050405020304"/>
                <a:sym typeface="Times New Roman" panose="02020603050405020304"/>
              </a:rPr>
              <a:t> file , 2) yourproblemstatement.pdf file  3) your projectpresntation.pptx file 4)any other files </a:t>
            </a:r>
            <a:endParaRPr lang="en-US" sz="1850" dirty="0">
              <a:solidFill>
                <a:srgbClr val="2B3541"/>
              </a:solidFill>
              <a:latin typeface="Times New Roman" panose="02020603050405020304"/>
              <a:ea typeface="Times New Roman" panose="02020603050405020304"/>
              <a:cs typeface="Times New Roman" panose="02020603050405020304"/>
            </a:endParaRPr>
          </a:p>
          <a:p>
            <a:pPr marL="0" marR="0" lvl="0" indent="0" algn="l" rtl="0">
              <a:lnSpc>
                <a:spcPct val="162000"/>
              </a:lnSpc>
              <a:spcBef>
                <a:spcPts val="0"/>
              </a:spcBef>
              <a:spcAft>
                <a:spcPts val="0"/>
              </a:spcAft>
              <a:buClr>
                <a:srgbClr val="2B3541"/>
              </a:buClr>
              <a:buSzPts val="1850"/>
              <a:buFont typeface="Times New Roman" panose="02020603050405020304"/>
              <a:buNone/>
            </a:pP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0" name="Google Shape;280;p18"/>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1" name="Google Shape;281;p18"/>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2" name="Google Shape;282;p18"/>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8" name="Google Shape;278;p18"/>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000"/>
              </a:lnSpc>
              <a:spcBef>
                <a:spcPts val="0"/>
              </a:spcBef>
              <a:spcAft>
                <a:spcPts val="0"/>
              </a:spcAft>
              <a:buClr>
                <a:srgbClr val="051D3A"/>
              </a:buClr>
              <a:buSzPts val="3500"/>
              <a:buFont typeface="Times New Roman" panose="02020603050405020304"/>
              <a:buNone/>
            </a:pPr>
            <a:r>
              <a:rPr lang="en-US" sz="2400" b="1">
                <a:sym typeface="Times New Roman" panose="02020603050405020304"/>
              </a:rPr>
              <a:t>Future Scope </a:t>
            </a:r>
            <a:endParaRPr sz="2400" b="1">
              <a:sym typeface="Times New Roman" panose="02020603050405020304"/>
            </a:endParaRPr>
          </a:p>
        </p:txBody>
      </p:sp>
      <p:sp>
        <p:nvSpPr>
          <p:cNvPr id="279" name="Google Shape;279;p18"/>
          <p:cNvSpPr/>
          <p:nvPr/>
        </p:nvSpPr>
        <p:spPr>
          <a:xfrm>
            <a:off x="1218565" y="1221740"/>
            <a:ext cx="9650730" cy="5069205"/>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zh-CN" altLang="en-US"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r>
              <a:rPr lang="en-US" altLang="en-US"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Predictive Pollution Forecasting</a:t>
            </a:r>
            <a:endParaRPr lang="en-US" altLang="en-US"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62000"/>
              </a:lnSpc>
              <a:spcBef>
                <a:spcPts val="0"/>
              </a:spcBef>
              <a:spcAft>
                <a:spcPts val="0"/>
              </a:spcAft>
              <a:buClr>
                <a:srgbClr val="2B3541"/>
              </a:buClr>
              <a:buSzPts val="1850"/>
              <a:buFont typeface="Times New Roman" panose="02020603050405020304"/>
              <a:buNone/>
            </a:pPr>
            <a:r>
              <a:rPr lang="en-US" altLang="en-US"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Predict pollution events using historical, weather, and sensor trends.</a:t>
            </a:r>
            <a:endParaRPr lang="en-US" altLang="en-US"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62000"/>
              </a:lnSpc>
              <a:spcBef>
                <a:spcPts val="0"/>
              </a:spcBef>
              <a:spcAft>
                <a:spcPts val="0"/>
              </a:spcAft>
              <a:buClr>
                <a:srgbClr val="2B3541"/>
              </a:buClr>
              <a:buSzPts val="1850"/>
              <a:buFont typeface="Times New Roman" panose="02020603050405020304"/>
              <a:buNone/>
            </a:pPr>
            <a:r>
              <a:rPr lang="zh-CN" altLang="en-US"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a:t>
            </a:r>
            <a:r>
              <a:rPr lang="en-US" altLang="en-US"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Weather &amp; Environmental Correlation</a:t>
            </a:r>
            <a:endParaRPr lang="en-US" altLang="en-US"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62000"/>
              </a:lnSpc>
              <a:spcBef>
                <a:spcPts val="0"/>
              </a:spcBef>
              <a:spcAft>
                <a:spcPts val="0"/>
              </a:spcAft>
              <a:buClr>
                <a:srgbClr val="2B3541"/>
              </a:buClr>
              <a:buSzPts val="1850"/>
              <a:buFont typeface="Times New Roman" panose="02020603050405020304"/>
              <a:buNone/>
            </a:pPr>
            <a:r>
              <a:rPr lang="en-US" altLang="en-US"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Combine wind, temperature, rainfall, and other factors to improve risk analysis.</a:t>
            </a:r>
            <a:endParaRPr lang="en-US" altLang="en-US"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62000"/>
              </a:lnSpc>
              <a:spcBef>
                <a:spcPts val="0"/>
              </a:spcBef>
              <a:spcAft>
                <a:spcPts val="0"/>
              </a:spcAft>
              <a:buClr>
                <a:srgbClr val="2B3541"/>
              </a:buClr>
              <a:buSzPts val="1850"/>
              <a:buFont typeface="Times New Roman" panose="02020603050405020304"/>
              <a:buNone/>
            </a:pPr>
            <a:r>
              <a:rPr lang="zh-CN" altLang="en-US"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r>
              <a:rPr lang="en-US" altLang="en-US"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Satellite &amp; Remote Sensing</a:t>
            </a:r>
            <a:endParaRPr lang="en-US" altLang="en-US"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62000"/>
              </a:lnSpc>
              <a:spcBef>
                <a:spcPts val="0"/>
              </a:spcBef>
              <a:spcAft>
                <a:spcPts val="0"/>
              </a:spcAft>
              <a:buClr>
                <a:srgbClr val="2B3541"/>
              </a:buClr>
              <a:buSzPts val="1850"/>
              <a:buFont typeface="Times New Roman" panose="02020603050405020304"/>
              <a:buNone/>
            </a:pPr>
            <a:r>
              <a:rPr lang="en-US" altLang="en-US"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Integrate satellite observations for wider-area environmental monitoring.</a:t>
            </a:r>
            <a:endParaRPr lang="en-US" altLang="en-US"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62000"/>
              </a:lnSpc>
              <a:spcBef>
                <a:spcPts val="0"/>
              </a:spcBef>
              <a:spcAft>
                <a:spcPts val="0"/>
              </a:spcAft>
              <a:buClr>
                <a:srgbClr val="2B3541"/>
              </a:buClr>
              <a:buSzPts val="1850"/>
              <a:buFont typeface="Times New Roman" panose="02020603050405020304"/>
              <a:buNone/>
            </a:pPr>
            <a:r>
              <a:rPr lang="zh-CN" altLang="en-US"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r>
              <a:rPr lang="en-US" altLang="en-US"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Digital Environmental Twin</a:t>
            </a:r>
            <a:endParaRPr lang="en-US" altLang="en-US"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62000"/>
              </a:lnSpc>
              <a:spcBef>
                <a:spcPts val="0"/>
              </a:spcBef>
              <a:spcAft>
                <a:spcPts val="0"/>
              </a:spcAft>
              <a:buClr>
                <a:srgbClr val="2B3541"/>
              </a:buClr>
              <a:buSzPts val="1850"/>
              <a:buFont typeface="Times New Roman" panose="02020603050405020304"/>
              <a:buNone/>
            </a:pPr>
            <a:r>
              <a:rPr lang="en-US" altLang="en-US"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Create a virtual representation of the industrial corridor to simulate pollution scenarios.</a:t>
            </a:r>
            <a:endParaRPr lang="en-US" altLang="en-US"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62000"/>
              </a:lnSpc>
              <a:spcBef>
                <a:spcPts val="0"/>
              </a:spcBef>
              <a:spcAft>
                <a:spcPts val="0"/>
              </a:spcAft>
              <a:buClr>
                <a:srgbClr val="2B3541"/>
              </a:buClr>
              <a:buSzPts val="1850"/>
              <a:buFont typeface="Times New Roman" panose="02020603050405020304"/>
              <a:buNone/>
            </a:pPr>
            <a:r>
              <a:rPr lang="zh-CN" altLang="en-US" sz="1850">
                <a:latin typeface="Times New Roman" panose="02020603050405020304"/>
                <a:ea typeface="Times New Roman" panose="02020603050405020304"/>
                <a:cs typeface="Times New Roman" panose="02020603050405020304"/>
                <a:sym typeface="Times New Roman" panose="02020603050405020304"/>
              </a:rPr>
              <a:t>🤖 </a:t>
            </a:r>
            <a:r>
              <a:rPr lang="en-US" altLang="en-US" sz="1850">
                <a:latin typeface="Times New Roman" panose="02020603050405020304"/>
                <a:ea typeface="Times New Roman" panose="02020603050405020304"/>
                <a:cs typeface="Times New Roman" panose="02020603050405020304"/>
                <a:sym typeface="Times New Roman" panose="02020603050405020304"/>
              </a:rPr>
              <a:t>Autonomous Investigation Support</a:t>
            </a:r>
            <a:endParaRPr lang="en-US" altLang="en-US"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62000"/>
              </a:lnSpc>
              <a:spcBef>
                <a:spcPts val="0"/>
              </a:spcBef>
              <a:spcAft>
                <a:spcPts val="0"/>
              </a:spcAft>
              <a:buClr>
                <a:srgbClr val="2B3541"/>
              </a:buClr>
              <a:buSzPts val="1850"/>
              <a:buFont typeface="Times New Roman" panose="02020603050405020304"/>
              <a:buNone/>
            </a:pPr>
            <a:r>
              <a:rPr lang="en-US" altLang="en-US" sz="1850">
                <a:latin typeface="Times New Roman" panose="02020603050405020304"/>
                <a:ea typeface="Times New Roman" panose="02020603050405020304"/>
                <a:cs typeface="Times New Roman" panose="02020603050405020304"/>
                <a:sym typeface="Times New Roman" panose="02020603050405020304"/>
              </a:rPr>
              <a:t>AI agents identify patterns and prepare investigation briefs for authorized officials.</a:t>
            </a:r>
            <a:endParaRPr lang="en-US" altLang="en-US" sz="1850">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62000"/>
              </a:lnSpc>
              <a:spcBef>
                <a:spcPts val="0"/>
              </a:spcBef>
              <a:spcAft>
                <a:spcPts val="0"/>
              </a:spcAft>
              <a:buClr>
                <a:srgbClr val="2B3541"/>
              </a:buClr>
              <a:buSzPts val="1850"/>
              <a:buFont typeface="Times New Roman" panose="02020603050405020304"/>
              <a:buNone/>
            </a:pPr>
            <a:r>
              <a:rPr lang="zh-CN" altLang="en-US" sz="1850">
                <a:latin typeface="Times New Roman" panose="02020603050405020304"/>
                <a:ea typeface="Times New Roman" panose="02020603050405020304"/>
                <a:cs typeface="Times New Roman" panose="02020603050405020304"/>
                <a:sym typeface="Times New Roman" panose="02020603050405020304"/>
              </a:rPr>
              <a:t>🌐</a:t>
            </a:r>
            <a:r>
              <a:rPr lang="en-US" altLang="en-US" sz="1850">
                <a:latin typeface="Times New Roman" panose="02020603050405020304"/>
                <a:ea typeface="Times New Roman" panose="02020603050405020304"/>
                <a:cs typeface="Times New Roman" panose="02020603050405020304"/>
                <a:sym typeface="Times New Roman" panose="02020603050405020304"/>
              </a:rPr>
              <a:t>Corridor-Wide Expansion</a:t>
            </a:r>
            <a:endParaRPr lang="en-US" altLang="en-US"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62000"/>
              </a:lnSpc>
              <a:spcBef>
                <a:spcPts val="0"/>
              </a:spcBef>
              <a:spcAft>
                <a:spcPts val="0"/>
              </a:spcAft>
              <a:buClr>
                <a:srgbClr val="2B3541"/>
              </a:buClr>
              <a:buSzPts val="1850"/>
              <a:buFont typeface="Times New Roman" panose="02020603050405020304"/>
              <a:buNone/>
            </a:pPr>
            <a:r>
              <a:rPr lang="en-US" altLang="en-US" sz="1850">
                <a:latin typeface="Times New Roman" panose="02020603050405020304"/>
                <a:ea typeface="Times New Roman" panose="02020603050405020304"/>
                <a:cs typeface="Times New Roman" panose="02020603050405020304"/>
                <a:sym typeface="Times New Roman" panose="02020603050405020304"/>
              </a:rPr>
              <a:t>Scale from Vapi–Ankleshwar–Vatva to other ind</a:t>
            </a:r>
            <a:r>
              <a:rPr lang="zh-CN" altLang="en-US" sz="1850">
                <a:latin typeface="Times New Roman" panose="02020603050405020304"/>
                <a:ea typeface="Times New Roman" panose="02020603050405020304"/>
                <a:cs typeface="Times New Roman" panose="02020603050405020304"/>
                <a:sym typeface="Times New Roman" panose="02020603050405020304"/>
              </a:rPr>
              <a:t> </a:t>
            </a:r>
            <a:r>
              <a:rPr lang="en-US" altLang="en-US" sz="1850">
                <a:latin typeface="Times New Roman" panose="02020603050405020304"/>
                <a:ea typeface="Times New Roman" panose="02020603050405020304"/>
                <a:cs typeface="Times New Roman" panose="02020603050405020304"/>
                <a:sym typeface="Times New Roman" panose="02020603050405020304"/>
              </a:rPr>
              <a:t>ustrial zones across Gujarat and India</a:t>
            </a:r>
            <a:endParaRPr lang="en-US" altLang="en-US"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62000"/>
              </a:lnSpc>
              <a:spcBef>
                <a:spcPts val="0"/>
              </a:spcBef>
              <a:spcAft>
                <a:spcPts val="0"/>
              </a:spcAft>
              <a:buClr>
                <a:srgbClr val="2B3541"/>
              </a:buClr>
              <a:buSzPts val="1850"/>
              <a:buFont typeface="Times New Roman" panose="02020603050405020304"/>
              <a:buNone/>
            </a:pPr>
            <a:endParaRPr lang="en-US" altLang="en-US"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62000"/>
              </a:lnSpc>
              <a:spcBef>
                <a:spcPts val="0"/>
              </a:spcBef>
              <a:spcAft>
                <a:spcPts val="0"/>
              </a:spcAft>
              <a:buClr>
                <a:srgbClr val="2B3541"/>
              </a:buClr>
              <a:buSzPts val="1850"/>
              <a:buFont typeface="Times New Roman" panose="02020603050405020304"/>
              <a:buNone/>
            </a:pPr>
            <a:endParaRPr lang="en-US" altLang="en-US"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62000"/>
              </a:lnSpc>
              <a:spcBef>
                <a:spcPts val="0"/>
              </a:spcBef>
              <a:spcAft>
                <a:spcPts val="0"/>
              </a:spcAft>
              <a:buClr>
                <a:srgbClr val="2B3541"/>
              </a:buClr>
              <a:buSzPts val="1850"/>
              <a:buFont typeface="Times New Roman" panose="02020603050405020304"/>
              <a:buNone/>
            </a:pPr>
            <a:endParaRPr lang="en-US" altLang="en-US"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62000"/>
              </a:lnSpc>
              <a:spcBef>
                <a:spcPts val="0"/>
              </a:spcBef>
              <a:spcAft>
                <a:spcPts val="0"/>
              </a:spcAft>
              <a:buClr>
                <a:srgbClr val="2B3541"/>
              </a:buClr>
              <a:buSzPts val="1850"/>
              <a:buFont typeface="Times New Roman" panose="02020603050405020304"/>
              <a:buNone/>
            </a:pPr>
            <a:r>
              <a:rPr lang="en-US" altLang="en-US"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a:t>
            </a:r>
            <a:endParaRPr lang="en-US" altLang="en-US"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0" name="Google Shape;280;p18"/>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1" name="Google Shape;281;p18"/>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2" name="Google Shape;282;p18"/>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2400" b="1"/>
              <a:t>Certificates Earned:</a:t>
            </a:r>
            <a:endParaRPr lang="en-US" sz="2400" b="1"/>
          </a:p>
          <a:p>
            <a:pPr algn="ctr"/>
            <a:endParaRPr lang="en-US"/>
          </a:p>
        </p:txBody>
      </p:sp>
      <p:sp>
        <p:nvSpPr>
          <p:cNvPr id="3" name="TextBox 2"/>
          <p:cNvSpPr txBox="1"/>
          <p:nvPr/>
        </p:nvSpPr>
        <p:spPr>
          <a:xfrm>
            <a:off x="552048" y="690061"/>
            <a:ext cx="638996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2800" b="1"/>
              <a:t>Please  add your credly certificate </a:t>
            </a:r>
            <a:endParaRPr lang="en-US" sz="2800" b="1"/>
          </a:p>
        </p:txBody>
      </p:sp>
      <p:sp>
        <p:nvSpPr>
          <p:cNvPr id="2" name="Text Box 1"/>
          <p:cNvSpPr txBox="1"/>
          <p:nvPr/>
        </p:nvSpPr>
        <p:spPr>
          <a:xfrm>
            <a:off x="1172210" y="1473835"/>
            <a:ext cx="8294370" cy="4568190"/>
          </a:xfrm>
          <a:prstGeom prst="rect">
            <a:avLst/>
          </a:prstGeom>
          <a:noFill/>
        </p:spPr>
        <p:txBody>
          <a:bodyPr wrap="square" rtlCol="0">
            <a:noAutofit/>
          </a:bodyPr>
          <a:p>
            <a:endParaRPr lang="en-US"/>
          </a:p>
        </p:txBody>
      </p:sp>
      <p:pic>
        <p:nvPicPr>
          <p:cNvPr id="8" name="Picture 7"/>
          <p:cNvPicPr/>
          <p:nvPr/>
        </p:nvPicPr>
        <p:blipFill>
          <a:blip r:embed="rId1"/>
          <a:stretch>
            <a:fillRect/>
          </a:stretch>
        </p:blipFill>
        <p:spPr>
          <a:xfrm>
            <a:off x="-2147483648" y="-2147483648"/>
            <a:ext cx="2147483647" cy="2147483647"/>
          </a:xfrm>
          <a:prstGeom prst="rect">
            <a:avLst/>
          </a:prstGeom>
        </p:spPr>
      </p:pic>
      <p:pic>
        <p:nvPicPr>
          <p:cNvPr id="9" name="Picture 8"/>
          <p:cNvPicPr>
            <a:picLocks noChangeAspect="1"/>
          </p:cNvPicPr>
          <p:nvPr/>
        </p:nvPicPr>
        <p:blipFill>
          <a:blip r:embed="rId2"/>
          <a:stretch>
            <a:fillRect/>
          </a:stretch>
        </p:blipFill>
        <p:spPr>
          <a:xfrm>
            <a:off x="1347470" y="1393190"/>
            <a:ext cx="9496425" cy="508825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2400" b="1" i="0" u="none" strike="noStrike" baseline="0">
                <a:solidFill>
                  <a:srgbClr val="000000"/>
                </a:solidFill>
                <a:latin typeface="Arial" panose="020B0604020202020204"/>
              </a:rPr>
              <a:t>Certificates Earned:</a:t>
            </a:r>
            <a:r>
              <a:rPr sz="2400" b="0" i="0">
                <a:solidFill>
                  <a:srgbClr val="000000"/>
                </a:solidFill>
                <a:latin typeface="Arial" panose="020B0604020202020204"/>
                <a:ea typeface="Arial" panose="020B0604020202020204"/>
                <a:cs typeface="Arial" panose="020B0604020202020204"/>
              </a:rPr>
              <a:t>​</a:t>
            </a:r>
            <a:endParaRPr lang="en-US"/>
          </a:p>
          <a:p>
            <a:pPr algn="ctr"/>
            <a:endParaRPr lang="en-US"/>
          </a:p>
        </p:txBody>
      </p:sp>
      <p:sp>
        <p:nvSpPr>
          <p:cNvPr id="6" name="TextBox 5"/>
          <p:cNvSpPr txBox="1"/>
          <p:nvPr/>
        </p:nvSpPr>
        <p:spPr>
          <a:xfrm>
            <a:off x="496843" y="80047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2000" b="1"/>
              <a:t>Add your IBM BOB Certificate</a:t>
            </a:r>
            <a:endParaRPr lang="en-US" sz="2000" b="1"/>
          </a:p>
        </p:txBody>
      </p:sp>
      <p:sp>
        <p:nvSpPr>
          <p:cNvPr id="2" name="Text Box 1"/>
          <p:cNvSpPr txBox="1"/>
          <p:nvPr/>
        </p:nvSpPr>
        <p:spPr>
          <a:xfrm>
            <a:off x="1052830" y="1372235"/>
            <a:ext cx="7937500" cy="4741545"/>
          </a:xfrm>
          <a:prstGeom prst="rect">
            <a:avLst/>
          </a:prstGeom>
          <a:noFill/>
        </p:spPr>
        <p:txBody>
          <a:bodyPr wrap="square" rtlCol="0">
            <a:noAutofit/>
          </a:bodyPr>
          <a:p>
            <a:endParaRPr lang="en-US"/>
          </a:p>
        </p:txBody>
      </p:sp>
      <p:pic>
        <p:nvPicPr>
          <p:cNvPr id="3" name="Picture 2"/>
          <p:cNvPicPr>
            <a:picLocks noChangeAspect="1"/>
          </p:cNvPicPr>
          <p:nvPr/>
        </p:nvPicPr>
        <p:blipFill>
          <a:blip r:embed="rId1"/>
          <a:stretch>
            <a:fillRect/>
          </a:stretch>
        </p:blipFill>
        <p:spPr>
          <a:xfrm>
            <a:off x="2076450" y="1332865"/>
            <a:ext cx="8039100" cy="481520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1"/>
          <a:srcRect/>
          <a:stretch>
            <a:fill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7572</Words>
  <Application>WPS Presentation</Application>
  <PresentationFormat>Widescreen</PresentationFormat>
  <Paragraphs>220</Paragraphs>
  <Slides>16</Slides>
  <Notes>13</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16</vt:i4>
      </vt:variant>
    </vt:vector>
  </HeadingPairs>
  <TitlesOfParts>
    <vt:vector size="25" baseType="lpstr">
      <vt:lpstr>Arial</vt:lpstr>
      <vt:lpstr>SimSun</vt:lpstr>
      <vt:lpstr>Wingdings</vt:lpstr>
      <vt:lpstr>Arial</vt:lpstr>
      <vt:lpstr>Calibri</vt:lpstr>
      <vt:lpstr>Times New Roman</vt:lpstr>
      <vt:lpstr>Microsoft YaHei</vt:lpstr>
      <vt:lpstr>Arial Unicode MS</vt:lpstr>
      <vt:lpstr>Office Theme</vt:lpstr>
      <vt:lpstr>IBM University Engagement Project Submission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dell</cp:lastModifiedBy>
  <cp:revision>17</cp:revision>
  <dcterms:created xsi:type="dcterms:W3CDTF">2025-07-08T05:06:00Z</dcterms:created>
  <dcterms:modified xsi:type="dcterms:W3CDTF">2026-09-12T14:34:44Z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1033-12.1.0.28032</vt:lpwstr>
  </property>
  <property fmtid="{D5CDD505-2E9C-101B-9397-08002B2CF9AE}" pid="3" name="ICV">
    <vt:lpwstr>AC41688F2BE6469FAA53A307D77709FA_13</vt:lpwstr>
  </property>
</Properties>
</file>